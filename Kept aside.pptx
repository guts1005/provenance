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Losses Without Provenance ($)</c:v>
                </c:pt>
              </c:strCache>
            </c:strRef>
          </c:tx>
          <c:spPr>
            <a:solidFill>
              <a:srgbClr val="B0123F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Station 1 (High Volume)</c:v>
                </c:pt>
                <c:pt idx="1">
                  <c:v>Station 2 (Electronics)</c:v>
                </c:pt>
                <c:pt idx="2">
                  <c:v>Station 3 (Apparel)</c:v>
                </c:pt>
                <c:pt idx="3">
                  <c:v>Station 4 (Fragile Goods)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2450</c:v>
                </c:pt>
                <c:pt idx="1">
                  <c:v>2180</c:v>
                </c:pt>
                <c:pt idx="2">
                  <c:v>2620</c:v>
                </c:pt>
                <c:pt idx="3">
                  <c:v>2300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9DF-4D2C-8093-1E6F6BC680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Losses With Provenance ($)</c:v>
                </c:pt>
              </c:strCache>
            </c:strRef>
          </c:tx>
          <c:spPr>
            <a:solidFill>
              <a:srgbClr val="0B5CA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Station 1 (High Volume)</c:v>
                </c:pt>
                <c:pt idx="1">
                  <c:v>Station 2 (Electronics)</c:v>
                </c:pt>
                <c:pt idx="2">
                  <c:v>Station 3 (Apparel)</c:v>
                </c:pt>
                <c:pt idx="3">
                  <c:v>Station 4 (Fragile Goods)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</c:v>
                </c:pt>
                <c:pt idx="1">
                  <c:v>90</c:v>
                </c:pt>
                <c:pt idx="2">
                  <c:v>140</c:v>
                </c:pt>
                <c:pt idx="3">
                  <c:v>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9DF-4D2C-8093-1E6F6BC680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9CED2"/>
            </a:solidFill>
          </a:ln>
        </c:spPr>
        <c:txPr>
          <a:bodyPr/>
          <a:lstStyle/>
          <a:p>
            <a:pPr>
              <a:defRPr sz="1000">
                <a:solidFill>
                  <a:srgbClr val="3F454C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C9CED2"/>
            </a:solidFill>
          </a:ln>
        </c:spPr>
        <c:txPr>
          <a:bodyPr/>
          <a:lstStyle/>
          <a:p>
            <a:pPr>
              <a:defRPr sz="950">
                <a:solidFill>
                  <a:srgbClr val="3F454C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17181A"/>
              </a:solidFill>
              <a:latin typeface="Segoe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18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(15-20s): Open with immediate business relevance. E-commerce founders and 3PL warehouse operators lose thousands of dollars each month to fraudulent or unprovable missing-item claims. Show the live packing bench HUD on the right: this is a real, operational system that captures HD proof with zero PC touches.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(30-45s): Validate the audience's daily frustration. Ask how many missing-item tickets support handles weekly. Highlight the triple loss: product gone, shipping gone, and a penalty fee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(30s): Preempt the primary objection: 'We already have cameras.' Explain that surveillance CCTV protects the perimeter from break-ins, but fails completely on dispute claims because it is not indexed to barcodes and cannot see inside cartons.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(45s): Deliver the core transformation. Compare the agony of 4 hours searching tapes vs 2 seconds searching a barcode. Emphasize that dispute resolution goes from a stressful 2-week standoff to a 10-second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(45s): Reassure operations leaders that floor throughput will not suffer. The operator never touches a mouse or keyboard. Show the real laminated placard on the right: they scan the barcode on the parcel, pack the box, and scan the placard. It takes zero additional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(30s): Walk through the actual evidence interface on the left. Support agents can review the clip, scrub through timestamps, and export the entire ZIP package in 1 click. In 98% of cases, claims are closed in your favor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(30s): Position Provenance beyond dispute insurance: it is also a live daily packing dashboard. Warehouse managers love that it keeps shifts on schedule and guarantees zero packages are forgotten on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(45s): Walk through the financial logic. A 4-bench facility loses nearly $10,000 monthly to fraudulent claims and chargebacks. Provenance drops that loss to under $500. The system pays for itself in the first 30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(30s): Overcome IT department friction. Highlight that no proprietary cameras are needed, no rewiring is required, and there are zero recurring cloud storage fees. It runs standalone on standard Windows PCs.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PRESENTER GOAL (20-30s): Call to action. Close with a frictionless offer: a 15-minute live packing bench walkthrough or a 30-day pilot on their highest-volume packing bench. Zero risk, zero IT overhaul, immediate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108960" cy="292608"/>
          </a:xfrm>
          <a:prstGeom prst="rect">
            <a:avLst/>
          </a:prstGeom>
          <a:solidFill>
            <a:srgbClr val="FBEFB8"/>
          </a:solidFill>
          <a:ln w="12700">
            <a:solidFill>
              <a:srgbClr val="D9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5C4300"/>
                </a:solidFill>
                <a:latin typeface="Consolas"/>
              </a:defRPr>
            </a:pPr>
            <a:r>
              <a:t>INDUSTRIAL CCTV PACKING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7181A"/>
                </a:solidFill>
                <a:latin typeface="Segoe UI"/>
              </a:defRPr>
            </a:pPr>
            <a:r>
              <a:t>STOP LOSING MONEY</a:t>
            </a:r>
            <a:br/>
            <a:r>
              <a:t>TO PACKAGING</a:t>
            </a:r>
            <a:br/>
            <a:r>
              <a:t>DISPUTES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3F454C"/>
                </a:solidFill>
                <a:latin typeface="Segoe UI"/>
              </a:defRPr>
            </a:pPr>
            <a:r>
              <a:t>Instant 1080p HD video proof for every packed box. Operators never touch a mouse or keyboard. Resolves missing-item claims in 10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8348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093208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C4300"/>
                </a:solidFill>
                <a:latin typeface="Segoe UI"/>
              </a:defRPr>
            </a:pPr>
            <a:r>
              <a:t>0ms</a:t>
            </a:r>
          </a:p>
          <a:p>
            <a:pPr>
              <a:defRPr sz="950">
                <a:solidFill>
                  <a:srgbClr val="565E66"/>
                </a:solidFill>
                <a:latin typeface="Segoe UI"/>
              </a:defRPr>
            </a:pPr>
            <a:r>
              <a:t>Latency 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404872" y="498348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96312" y="5093208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4A8C"/>
                </a:solidFill>
                <a:latin typeface="Segoe UI"/>
              </a:defRPr>
            </a:pPr>
            <a:r>
              <a:t>1080p</a:t>
            </a:r>
          </a:p>
          <a:p>
            <a:pPr>
              <a:defRPr sz="950">
                <a:solidFill>
                  <a:srgbClr val="565E66"/>
                </a:solidFill>
                <a:latin typeface="Segoe UI"/>
              </a:defRPr>
            </a:pPr>
            <a:r>
              <a:t>Local HD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78224" y="4983480"/>
            <a:ext cx="1508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9664" y="5093208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F46"/>
                </a:solidFill>
                <a:latin typeface="Segoe UI"/>
              </a:defRPr>
            </a:pPr>
            <a:r>
              <a:t>0 Clicks</a:t>
            </a:r>
          </a:p>
          <a:p>
            <a:pPr>
              <a:defRPr sz="950">
                <a:solidFill>
                  <a:srgbClr val="565E66"/>
                </a:solidFill>
                <a:latin typeface="Segoe UI"/>
              </a:defRPr>
            </a:pPr>
            <a:r>
              <a:t>Hands-Free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65E66"/>
                </a:solidFill>
                <a:latin typeface="Consolas"/>
              </a:defRPr>
            </a:pPr>
            <a:r>
              <a:t>PROVENANCE SYSTEMS  |  ENTERPRISE DISPATCH SUITE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5516575" cy="3420452"/>
          </a:xfrm>
          <a:prstGeom prst="rect">
            <a:avLst/>
          </a:prstGeom>
          <a:solidFill>
            <a:srgbClr val="17181A"/>
          </a:solidFill>
          <a:ln w="19050">
            <a:solidFill>
              <a:srgbClr val="7B8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0" y="1005840"/>
            <a:ext cx="5516575" cy="329184"/>
          </a:xfrm>
          <a:prstGeom prst="rect">
            <a:avLst/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71616" y="1124712"/>
            <a:ext cx="101600" cy="10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060704"/>
            <a:ext cx="3230575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DCDFE2"/>
                </a:solidFill>
                <a:latin typeface="Consolas"/>
              </a:defRPr>
            </a:pPr>
            <a:r>
              <a:t>STATION 01 // LIVE DISPATCH HUD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04527" y="1056132"/>
            <a:ext cx="1645920" cy="228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00" b="1">
                <a:solidFill>
                  <a:srgbClr val="065F46"/>
                </a:solidFill>
                <a:latin typeface="Consolas"/>
              </a:defRPr>
            </a:pPr>
            <a:r>
              <a:t>LIVE 1080p // ARMED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335024"/>
            <a:ext cx="5516575" cy="12700"/>
          </a:xfrm>
          <a:prstGeom prst="rect">
            <a:avLst/>
          </a:prstGeom>
          <a:solidFill>
            <a:srgbClr val="7B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realtime_station_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35024"/>
            <a:ext cx="5333695" cy="299982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35040" y="1335024"/>
            <a:ext cx="5333695" cy="2999828"/>
          </a:xfrm>
          <a:prstGeom prst="rect">
            <a:avLst/>
          </a:prstGeom>
          <a:noFill/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0" y="4572596"/>
            <a:ext cx="2679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0" y="4572596"/>
            <a:ext cx="44450" cy="13716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4700612"/>
            <a:ext cx="24048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84A8C"/>
                </a:solidFill>
                <a:latin typeface="Consolas"/>
              </a:defRPr>
            </a:pPr>
            <a:r>
              <a:t>RTSP STREAM ENGINE</a:t>
            </a:r>
          </a:p>
          <a:p>
            <a:pPr>
              <a:spcBef>
                <a:spcPts val="300"/>
              </a:spcBef>
              <a:defRPr sz="1200" b="1">
                <a:solidFill>
                  <a:srgbClr val="17181A"/>
                </a:solidFill>
                <a:latin typeface="Segoe UI"/>
              </a:defRPr>
            </a:pPr>
            <a:r>
              <a:t>Sub-40ms Live Latency</a:t>
            </a:r>
          </a:p>
          <a:p>
            <a:pPr>
              <a:spcBef>
                <a:spcPts val="3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Rolling H.264 ring buffer records continuously to local memory with zero network delay.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4572596"/>
            <a:ext cx="26791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78240" y="4572596"/>
            <a:ext cx="44450" cy="13716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2832" y="4700612"/>
            <a:ext cx="240487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5C4300"/>
                </a:solidFill>
                <a:latin typeface="Consolas"/>
              </a:defRPr>
            </a:pPr>
            <a:r>
              <a:t>UNIVERSAL SCANNER HID</a:t>
            </a:r>
          </a:p>
          <a:p>
            <a:pPr>
              <a:spcBef>
                <a:spcPts val="300"/>
              </a:spcBef>
              <a:defRPr sz="1200" b="1">
                <a:solidFill>
                  <a:srgbClr val="17181A"/>
                </a:solidFill>
                <a:latin typeface="Segoe UI"/>
              </a:defRPr>
            </a:pPr>
            <a:r>
              <a:t>0ms Barcode Trigger</a:t>
            </a:r>
          </a:p>
          <a:p>
            <a:pPr>
              <a:spcBef>
                <a:spcPts val="3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Keystroke burst detection arms recording in zero milliseconds without PC interaction.</a:t>
            </a:r>
          </a:p>
        </p:txBody>
      </p:sp>
    </p:spTree>
  </p:cSld>
  <p:clrMapOvr>
    <a:masterClrMapping/>
  </p:clrMapOvr>
  <p:transition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PROBLEM &amp; LOSS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The E-Commerce Nightmare: 'My Item Was Missing'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How fraudulent missing-item claims drain profits and why current processes leave sellers defenseless.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931920" cy="4663440"/>
          </a:xfrm>
          <a:prstGeom prst="rect">
            <a:avLst/>
          </a:prstGeom>
          <a:solidFill>
            <a:srgbClr val="F6DDE3"/>
          </a:solidFill>
          <a:ln w="19050">
            <a:solidFill>
              <a:srgbClr val="B01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0F33"/>
                </a:solidFill>
                <a:latin typeface="Segoe UI"/>
              </a:defRPr>
            </a:pPr>
            <a:r>
              <a:t>AVERAGE REVENUE EROSION</a:t>
            </a:r>
          </a:p>
          <a:p>
            <a:pPr>
              <a:spcBef>
                <a:spcPts val="600"/>
              </a:spcBef>
              <a:defRPr sz="5000" b="1">
                <a:solidFill>
                  <a:srgbClr val="B0123F"/>
                </a:solidFill>
                <a:latin typeface="Segoe UI"/>
              </a:defRPr>
            </a:pPr>
            <a:r>
              <a:t>2% - 5%</a:t>
            </a:r>
          </a:p>
          <a:p>
            <a:pPr>
              <a:spcBef>
                <a:spcPts val="800"/>
              </a:spcBef>
              <a:defRPr sz="1300">
                <a:solidFill>
                  <a:srgbClr val="17181A"/>
                </a:solidFill>
                <a:latin typeface="Segoe UI"/>
              </a:defRPr>
            </a:pPr>
            <a:r>
              <a:t>Of gross e-commerce revenue is lost to fraudulent, unprovable missing-item claims and delivery chargebacks.</a:t>
            </a:r>
          </a:p>
          <a:p>
            <a:pPr>
              <a:spcBef>
                <a:spcPts val="1400"/>
              </a:spcBef>
              <a:defRPr sz="1150">
                <a:solidFill>
                  <a:srgbClr val="3F454C"/>
                </a:solidFill>
                <a:latin typeface="Segoe UI"/>
              </a:defRPr>
            </a:pPr>
            <a:r>
              <a:t>For a fulfillment facility shipping $150K monthly, that is $3,000 to $7,500 written off every 30 days without any objective proof to defend the business.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783080"/>
            <a:ext cx="6522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20640" y="1965960"/>
            <a:ext cx="548640" cy="320040"/>
          </a:xfrm>
          <a:prstGeom prst="rect">
            <a:avLst/>
          </a:prstGeom>
          <a:solidFill>
            <a:srgbClr val="FFEDDB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1100" b="1">
                <a:solidFill>
                  <a:srgbClr val="9A430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911096"/>
            <a:ext cx="54708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A4300"/>
                </a:solidFill>
                <a:latin typeface="Segoe UI"/>
              </a:defRPr>
            </a:pPr>
            <a:r>
              <a:t>The Buyer Complaint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Customer receives carton, opens it, and claims high-value items were missing. Photos show an open carton with void fill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980944"/>
            <a:ext cx="6522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3163824"/>
            <a:ext cx="548640" cy="320040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1100" b="1">
                <a:solidFill>
                  <a:srgbClr val="3F454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108960"/>
            <a:ext cx="54708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F454C"/>
                </a:solidFill>
                <a:latin typeface="Segoe UI"/>
              </a:defRPr>
            </a:pPr>
            <a:r>
              <a:t>Carrier Denies Responsibility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Courier tracking records show parcel delivered intact with physical signature. Carrier immediately denies package tampering.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4178808"/>
            <a:ext cx="6522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0" y="4361688"/>
            <a:ext cx="548640" cy="320040"/>
          </a:xfrm>
          <a:prstGeom prst="rect">
            <a:avLst/>
          </a:prstGeom>
          <a:solidFill>
            <a:srgbClr val="F6DDE3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1100" b="1">
                <a:solidFill>
                  <a:srgbClr val="8F0F33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306824"/>
            <a:ext cx="54708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F0F33"/>
                </a:solidFill>
                <a:latin typeface="Segoe UI"/>
              </a:defRPr>
            </a:pPr>
            <a:r>
              <a:t>Automated Marketplace Debit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Amazon, Shopify, PayPal, or Stripe automatically debits the seller's account to refund the buyer without human dispute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5376672"/>
            <a:ext cx="65224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5559552"/>
            <a:ext cx="548640" cy="320040"/>
          </a:xfrm>
          <a:prstGeom prst="rect">
            <a:avLst/>
          </a:prstGeom>
          <a:solidFill>
            <a:srgbClr val="FBEFB8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1100" b="1">
                <a:solidFill>
                  <a:srgbClr val="5C4300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5504688"/>
            <a:ext cx="54708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C4300"/>
                </a:solidFill>
                <a:latin typeface="Segoe UI"/>
              </a:defRPr>
            </a:pPr>
            <a:r>
              <a:t>The Triple Loss Penalty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The seller forfeits the physical merchandise, loses original courier shipping fees, and pays a $15 to $25 dispute penalty charge.</a:t>
            </a:r>
          </a:p>
        </p:txBody>
      </p:sp>
    </p:spTree>
  </p:cSld>
  <p:clrMapOvr>
    <a:masterClrMapping/>
  </p:clrMapOvr>
  <p:transition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STATUS QUO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Why Regular Warehouse CCTV Fails on Disputes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Overhead security cameras record everything, but prove nothing.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3383280" cy="38100"/>
          </a:xfrm>
          <a:prstGeom prst="rect">
            <a:avLst/>
          </a:prstGeom>
          <a:solidFill>
            <a:srgbClr val="B0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2926080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181A"/>
                </a:solidFill>
                <a:latin typeface="Segoe UI"/>
              </a:defRPr>
            </a:pPr>
            <a:r>
              <a:t>18-Foot Ceiling Distance</a:t>
            </a:r>
          </a:p>
          <a:p>
            <a:pPr>
              <a:spcBef>
                <a:spcPts val="500"/>
              </a:spcBef>
              <a:defRPr sz="1100">
                <a:solidFill>
                  <a:srgbClr val="565E66"/>
                </a:solidFill>
                <a:latin typeface="Segoe UI"/>
              </a:defRPr>
            </a:pPr>
            <a:r>
              <a:t>Overhead cameras look at workers' hats, not inside boxes.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Cameras mounted 15 to 20 feet up in warehouse rafters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Workers' hands, heads, and bodies block carton interior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Grainy, low-resolution footage inside cardboard flaps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Immediate rejection by PayPal and couriers as inconclusive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3383280" cy="38100"/>
          </a:xfrm>
          <a:prstGeom prst="rect">
            <a:avLst/>
          </a:prstGeom>
          <a:solidFill>
            <a:srgbClr val="C4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984248"/>
            <a:ext cx="2926080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181A"/>
                </a:solidFill>
                <a:latin typeface="Segoe UI"/>
              </a:defRPr>
            </a:pPr>
            <a:r>
              <a:t>10-Hour Search Haystack</a:t>
            </a:r>
          </a:p>
          <a:p>
            <a:pPr>
              <a:spcBef>
                <a:spcPts val="500"/>
              </a:spcBef>
              <a:defRPr sz="1100">
                <a:solidFill>
                  <a:srgbClr val="565E66"/>
                </a:solidFill>
                <a:latin typeface="Segoe UI"/>
              </a:defRPr>
            </a:pPr>
            <a:r>
              <a:t>Searching unindexed video tapes 8 days later is impossible.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Customer support scrubs through 8 to 10 hours of video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Zero ability to jump directly to specific order timestamp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Average search takes 45 to 90 minutes per dispute ticket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Support teams give up and write off the claim to save labor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3383280" cy="381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84248"/>
            <a:ext cx="2926080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181A"/>
                </a:solidFill>
                <a:latin typeface="Segoe UI"/>
              </a:defRPr>
            </a:pPr>
            <a:r>
              <a:t>Zero Barcode Connection</a:t>
            </a:r>
          </a:p>
          <a:p>
            <a:pPr>
              <a:spcBef>
                <a:spcPts val="500"/>
              </a:spcBef>
              <a:defRPr sz="1100">
                <a:solidFill>
                  <a:srgbClr val="565E66"/>
                </a:solidFill>
                <a:latin typeface="Segoe UI"/>
              </a:defRPr>
            </a:pPr>
            <a:r>
              <a:t>Traditional NVR recorders are disconnected from your ERP.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No barcode scanner or packing terminal integration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No link between video timestamp and courier tracking number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Cannot search recordings by Order ID or Shipping Label AWB</a:t>
            </a:r>
          </a:p>
          <a:p>
            <a:pPr>
              <a:spcBef>
                <a:spcPts val="9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•  Dispute files cannot be exported or shared with payment gateways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solidFill>
            <a:srgbClr val="F6F7F7"/>
          </a:solidFill>
          <a:ln w="12700">
            <a:solidFill>
              <a:srgbClr val="7B8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6108192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8F0F33"/>
                </a:solidFill>
                <a:latin typeface="Consolas"/>
              </a:defRPr>
            </a:pPr>
            <a:r>
              <a:t>ARCHITECTURAL FLAW: Ceiling CCTV catches break-ins. It cannot prove what was placed inside a carton.</a:t>
            </a:r>
          </a:p>
        </p:txBody>
      </p:sp>
    </p:spTree>
  </p:cSld>
  <p:clrMapOvr>
    <a:masterClrMapping/>
  </p:clrMapOvr>
  <p:transition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SOLUTION &amp;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Every Order Gets Its Own 30-Second HD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Type or scan any barcode. Review the verified packing clip in 2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4663440"/>
          </a:xfrm>
          <a:prstGeom prst="rect">
            <a:avLst/>
          </a:prstGeom>
          <a:solidFill>
            <a:srgbClr val="F6F7F7"/>
          </a:solidFill>
          <a:ln w="19050">
            <a:solidFill>
              <a:srgbClr val="B01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5212080" cy="38100"/>
          </a:xfrm>
          <a:prstGeom prst="rect">
            <a:avLst/>
          </a:prstGeom>
          <a:solidFill>
            <a:srgbClr val="B0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F0F33"/>
                </a:solidFill>
                <a:latin typeface="Segoe UI"/>
              </a:defRPr>
            </a:pPr>
            <a:r>
              <a:t>THE OLD WAY: TRADITIONAL CCTV</a:t>
            </a:r>
          </a:p>
          <a:p>
            <a:pPr>
              <a:spcBef>
                <a:spcPts val="1400"/>
              </a:spcBef>
              <a:defRPr sz="1150">
                <a:solidFill>
                  <a:srgbClr val="3F454C"/>
                </a:solidFill>
                <a:latin typeface="Segoe UI"/>
              </a:defRPr>
            </a:pPr>
            <a:r>
              <a:t>✗  4 hours searching unindexed surveillance tapes for an order</a:t>
            </a:r>
          </a:p>
          <a:p>
            <a:pPr>
              <a:spcBef>
                <a:spcPts val="1400"/>
              </a:spcBef>
              <a:defRPr sz="1150">
                <a:solidFill>
                  <a:srgbClr val="3F454C"/>
                </a:solidFill>
                <a:latin typeface="Segoe UI"/>
              </a:defRPr>
            </a:pPr>
            <a:r>
              <a:t>✗  Overhead cameras cannot see inside the packing box</a:t>
            </a:r>
          </a:p>
          <a:p>
            <a:pPr>
              <a:spcBef>
                <a:spcPts val="1400"/>
              </a:spcBef>
              <a:defRPr sz="1150">
                <a:solidFill>
                  <a:srgbClr val="3F454C"/>
                </a:solidFill>
                <a:latin typeface="Segoe UI"/>
              </a:defRPr>
            </a:pPr>
            <a:r>
              <a:t>✗  85% of customer dispute claims lost to buyers</a:t>
            </a:r>
          </a:p>
          <a:p>
            <a:pPr>
              <a:spcBef>
                <a:spcPts val="1400"/>
              </a:spcBef>
              <a:defRPr sz="1150">
                <a:solidFill>
                  <a:srgbClr val="3F454C"/>
                </a:solidFill>
                <a:latin typeface="Segoe UI"/>
              </a:defRPr>
            </a:pPr>
            <a:r>
              <a:t>✗  $2,000+ written off every month per high-volume bench</a:t>
            </a:r>
          </a:p>
          <a:p>
            <a:pPr>
              <a:spcBef>
                <a:spcPts val="1400"/>
              </a:spcBef>
              <a:defRPr sz="1150">
                <a:solidFill>
                  <a:srgbClr val="3F454C"/>
                </a:solidFill>
                <a:latin typeface="Segoe UI"/>
              </a:defRPr>
            </a:pPr>
            <a:r>
              <a:t>✗  Customer support frustrated with zero objective proof</a:t>
            </a:r>
          </a:p>
          <a:p>
            <a:pPr>
              <a:spcBef>
                <a:spcPts val="1400"/>
              </a:spcBef>
              <a:defRPr sz="1150">
                <a:solidFill>
                  <a:srgbClr val="3F454C"/>
                </a:solidFill>
                <a:latin typeface="Segoe UI"/>
              </a:defRPr>
            </a:pPr>
            <a:r>
              <a:t>✗  Courier damage and shortage claims routinely denied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095" y="1783080"/>
            <a:ext cx="521208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8095" y="1783080"/>
            <a:ext cx="5212080" cy="381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2415" y="20116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4A8C"/>
                </a:solidFill>
                <a:latin typeface="Segoe UI"/>
              </a:defRPr>
            </a:pPr>
            <a:r>
              <a:t>WITH PROVENANCE PACKING PROOF</a:t>
            </a:r>
          </a:p>
          <a:p>
            <a:pPr>
              <a:spcBef>
                <a:spcPts val="1400"/>
              </a:spcBef>
              <a:defRPr sz="1150">
                <a:solidFill>
                  <a:srgbClr val="17181A"/>
                </a:solidFill>
                <a:latin typeface="Segoe UI"/>
              </a:defRPr>
            </a:pPr>
            <a:r>
              <a:t>✓  2 seconds to retrieve any order clip by barcode or tracking #</a:t>
            </a:r>
          </a:p>
          <a:p>
            <a:pPr>
              <a:spcBef>
                <a:spcPts val="1400"/>
              </a:spcBef>
              <a:defRPr sz="1150">
                <a:solidFill>
                  <a:srgbClr val="17181A"/>
                </a:solidFill>
                <a:latin typeface="Segoe UI"/>
              </a:defRPr>
            </a:pPr>
            <a:r>
              <a:t>✓  Direct bench camera sees exact items, serials, and sealed tape</a:t>
            </a:r>
          </a:p>
          <a:p>
            <a:pPr>
              <a:spcBef>
                <a:spcPts val="1400"/>
              </a:spcBef>
              <a:defRPr sz="1150">
                <a:solidFill>
                  <a:srgbClr val="17181A"/>
                </a:solidFill>
                <a:latin typeface="Segoe UI"/>
              </a:defRPr>
            </a:pPr>
            <a:r>
              <a:t>✓  98.4% of false customer claims won or deterred immediately</a:t>
            </a:r>
          </a:p>
          <a:p>
            <a:pPr>
              <a:spcBef>
                <a:spcPts val="1400"/>
              </a:spcBef>
              <a:defRPr sz="1150">
                <a:solidFill>
                  <a:srgbClr val="17181A"/>
                </a:solidFill>
                <a:latin typeface="Segoe UI"/>
              </a:defRPr>
            </a:pPr>
            <a:r>
              <a:t>✓  1-click dispute ZIP package with HD video and certificate</a:t>
            </a:r>
          </a:p>
          <a:p>
            <a:pPr>
              <a:spcBef>
                <a:spcPts val="1400"/>
              </a:spcBef>
              <a:defRPr sz="1150">
                <a:solidFill>
                  <a:srgbClr val="17181A"/>
                </a:solidFill>
                <a:latin typeface="Segoe UI"/>
              </a:defRPr>
            </a:pPr>
            <a:r>
              <a:t>✓  Customer support closes tickets on the first email reply</a:t>
            </a:r>
          </a:p>
          <a:p>
            <a:pPr>
              <a:spcBef>
                <a:spcPts val="1400"/>
              </a:spcBef>
              <a:defRPr sz="1150">
                <a:solidFill>
                  <a:srgbClr val="17181A"/>
                </a:solidFill>
                <a:latin typeface="Segoe UI"/>
              </a:defRPr>
            </a:pPr>
            <a:r>
              <a:t>✓  Real-time dispatch manifest tracks hourly packing pace</a:t>
            </a:r>
          </a:p>
        </p:txBody>
      </p:sp>
    </p:spTree>
  </p:cSld>
  <p:clrMapOvr>
    <a:masterClrMapping/>
  </p:clrMapOvr>
  <p:transition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ZERO-TOUCH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Zero Keyboard Touches. Zero Mouse Clicks.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Engineered for high-speed warehouse hands. Adds zero seconds to packing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400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965960"/>
            <a:ext cx="1097280" cy="274320"/>
          </a:xfrm>
          <a:prstGeom prst="rect">
            <a:avLst/>
          </a:prstGeom>
          <a:solidFill>
            <a:srgbClr val="DCE8F5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084A8C"/>
                </a:solidFill>
                <a:latin typeface="Consolas"/>
              </a:defRPr>
            </a:pPr>
            <a: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11096"/>
            <a:ext cx="4709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7181A"/>
                </a:solidFill>
                <a:latin typeface="Segoe UI"/>
              </a:defRPr>
            </a:pPr>
            <a:r>
              <a:t>Scan Order Label (Start)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Operator scans parcel shipping label with wireless scanner. Recording begins in 1080p HD in 0ms with an audible confirmation chime.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19272"/>
            <a:ext cx="6400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" y="3502152"/>
            <a:ext cx="1097280" cy="274320"/>
          </a:xfrm>
          <a:prstGeom prst="rect">
            <a:avLst/>
          </a:prstGeom>
          <a:solidFill>
            <a:srgbClr val="FBEFB8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5C4300"/>
                </a:solidFill>
                <a:latin typeface="Consolas"/>
              </a:defRPr>
            </a:pPr>
            <a: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447288"/>
            <a:ext cx="4709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7181A"/>
                </a:solidFill>
                <a:latin typeface="Segoe UI"/>
              </a:defRPr>
            </a:pPr>
            <a:r>
              <a:t>Pack and Tape Box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Operator places items into carton, adds void fill, and applies tamper tape under camera. Feed captures visible serials and sealed edges.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55464"/>
            <a:ext cx="6400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20" y="5038344"/>
            <a:ext cx="1097280" cy="274320"/>
          </a:xfrm>
          <a:prstGeom prst="rect">
            <a:avLst/>
          </a:prstGeom>
          <a:solidFill>
            <a:srgbClr val="FFEDDB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9A4300"/>
                </a:solidFill>
                <a:latin typeface="Consolas"/>
              </a:defRPr>
            </a:pPr>
            <a:r>
              <a:t>STEP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983480"/>
            <a:ext cx="4709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7181A"/>
                </a:solidFill>
                <a:latin typeface="Segoe UI"/>
              </a:defRPr>
            </a:pPr>
            <a:r>
              <a:t>Scan Finish Placard (Save)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Operator scans the laminated command placard mounted on the bench. Video immediately finalizes, calculates SHA-256 hash, and saves in 0ms.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783080"/>
            <a:ext cx="4144975" cy="2896933"/>
          </a:xfrm>
          <a:prstGeom prst="rect">
            <a:avLst/>
          </a:prstGeom>
          <a:solidFill>
            <a:srgbClr val="17181A"/>
          </a:solidFill>
          <a:ln w="19050">
            <a:solidFill>
              <a:srgbClr val="7B8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1783080"/>
            <a:ext cx="4144975" cy="329184"/>
          </a:xfrm>
          <a:prstGeom prst="rect">
            <a:avLst/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43216" y="1901952"/>
            <a:ext cx="101600" cy="10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1837944"/>
            <a:ext cx="1858975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DCDFE2"/>
                </a:solidFill>
                <a:latin typeface="Consolas"/>
              </a:defRPr>
            </a:pPr>
            <a:r>
              <a:t>HARDWARE // BENCH PLACARD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04527" y="1833372"/>
            <a:ext cx="1645920" cy="228600"/>
          </a:xfrm>
          <a:prstGeom prst="rect">
            <a:avLst/>
          </a:prstGeom>
          <a:solidFill>
            <a:srgbClr val="FB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00" b="1">
                <a:solidFill>
                  <a:srgbClr val="5C4300"/>
                </a:solidFill>
                <a:latin typeface="Consolas"/>
              </a:defRPr>
            </a:pPr>
            <a:r>
              <a:t>PRINT &amp; MOUNT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112264"/>
            <a:ext cx="4144975" cy="12700"/>
          </a:xfrm>
          <a:prstGeom prst="rect">
            <a:avLst/>
          </a:prstGeom>
          <a:solidFill>
            <a:srgbClr val="7B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inish_bench_pla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112264"/>
            <a:ext cx="3962095" cy="247630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406640" y="2112264"/>
            <a:ext cx="3962095" cy="2476309"/>
          </a:xfrm>
          <a:prstGeom prst="rect">
            <a:avLst/>
          </a:prstGeom>
          <a:noFill/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0" y="4826317"/>
            <a:ext cx="4144975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0" y="4826317"/>
            <a:ext cx="4144975" cy="381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0" y="4936045"/>
            <a:ext cx="3779215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181A"/>
                </a:solidFill>
                <a:latin typeface="Segoe UI"/>
              </a:defRPr>
            </a:pPr>
            <a:r>
              <a:t>BENCH HARDWARE SPECIFICATIONS</a:t>
            </a:r>
          </a:p>
          <a:p>
            <a:pPr>
              <a:spcBef>
                <a:spcPts val="3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•  Dual Scanner Support: 1D Laser (Code 128) &amp; 2D Imager (QR)</a:t>
            </a:r>
          </a:p>
          <a:p>
            <a:pPr>
              <a:spcBef>
                <a:spcPts val="3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•  Industrial Lamination: Resists floor dust, moisture, and wear</a:t>
            </a:r>
          </a:p>
          <a:p>
            <a:pPr>
              <a:spcBef>
                <a:spcPts val="3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•  Zero Operator Training: Scan parcel, pack, scan placard to save</a:t>
            </a:r>
          </a:p>
        </p:txBody>
      </p:sp>
    </p:spTree>
  </p:cSld>
  <p:clrMapOvr>
    <a:masterClrMapping/>
  </p:clrMapOvr>
  <p:transition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DISPUTE EVIDENCE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One Click. Dispute Closed.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Airtight digital proof formatted specifically for couriers, marketplaces, and banks.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303520" cy="3621024"/>
          </a:xfrm>
          <a:prstGeom prst="rect">
            <a:avLst/>
          </a:prstGeom>
          <a:solidFill>
            <a:srgbClr val="17181A"/>
          </a:solidFill>
          <a:ln w="19050">
            <a:solidFill>
              <a:srgbClr val="7B8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5303520" cy="329184"/>
          </a:xfrm>
          <a:prstGeom prst="rect">
            <a:avLst/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1901952"/>
            <a:ext cx="101600" cy="10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37944"/>
            <a:ext cx="3017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DCDFE2"/>
                </a:solidFill>
                <a:latin typeface="Consolas"/>
              </a:defRPr>
            </a:pPr>
            <a:r>
              <a:t>EVIDENCE // PROOF MODAL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833372"/>
            <a:ext cx="1645920" cy="228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00" b="1">
                <a:solidFill>
                  <a:srgbClr val="065F46"/>
                </a:solidFill>
                <a:latin typeface="Consolas"/>
              </a:defRPr>
            </a:pPr>
            <a:r>
              <a:t>SHA-256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12264"/>
            <a:ext cx="5303520" cy="12700"/>
          </a:xfrm>
          <a:prstGeom prst="rect">
            <a:avLst/>
          </a:prstGeom>
          <a:solidFill>
            <a:srgbClr val="7B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video_proof_modal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12264"/>
            <a:ext cx="5120640" cy="32004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22960" y="2112264"/>
            <a:ext cx="5120640" cy="3200400"/>
          </a:xfrm>
          <a:prstGeom prst="rect">
            <a:avLst/>
          </a:prstGeom>
          <a:noFill/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5541264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541264"/>
            <a:ext cx="4445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32704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65F46"/>
                </a:solidFill>
                <a:latin typeface="Consolas"/>
              </a:defRPr>
            </a:pPr>
            <a:r>
              <a:t>IMMUTABLE AUDIT TRAIL</a:t>
            </a:r>
          </a:p>
          <a:p>
            <a:pPr>
              <a:spcBef>
                <a:spcPts val="2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Every exported MP4 and certificate carries a cryptographic SHA-256 fingerprint proving the footage has never been edited, trimmed, or altered.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83080"/>
            <a:ext cx="51508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1783080"/>
            <a:ext cx="50800" cy="105156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911096"/>
            <a:ext cx="47850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81A"/>
                </a:solidFill>
                <a:latin typeface="Segoe UI"/>
              </a:defRPr>
            </a:pPr>
            <a:r>
              <a:t>1080p Packaging Video (MP4)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Full HD H.264 video showing exact items packed and tape sealed with frame timestamp overlay.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80944"/>
            <a:ext cx="51508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980944"/>
            <a:ext cx="50800" cy="105156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108960"/>
            <a:ext cx="47850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81A"/>
                </a:solidFill>
                <a:latin typeface="Segoe UI"/>
              </a:defRPr>
            </a:pPr>
            <a:r>
              <a:t>Digital Packing Certificate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Official PDF certificate with station ID, operator ID, camera serial, barcode, and packing duration.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178808"/>
            <a:ext cx="51508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178808"/>
            <a:ext cx="50800" cy="1051560"/>
          </a:xfrm>
          <a:prstGeom prst="rect">
            <a:avLst/>
          </a:prstGeom>
          <a:solidFill>
            <a:srgbClr val="C4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306824"/>
            <a:ext cx="47850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81A"/>
                </a:solidFill>
                <a:latin typeface="Segoe UI"/>
              </a:defRPr>
            </a:pPr>
            <a:r>
              <a:t>SHA-256 Tamper-Proof Hash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Cryptographic fingerprint proving the video file has never been edited, altered, or trimmed.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376672"/>
            <a:ext cx="515081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5376672"/>
            <a:ext cx="5080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5504688"/>
            <a:ext cx="47850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181A"/>
                </a:solidFill>
                <a:latin typeface="Segoe UI"/>
              </a:defRPr>
            </a:pPr>
            <a:r>
              <a:t>Carrier Claim CSV Record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Pre-formatted claim schema ready for immediate upload to FedEx, UPS, DHL, BlueDart, and Amazon.</a:t>
            </a:r>
          </a:p>
        </p:txBody>
      </p:sp>
    </p:spTree>
  </p:cSld>
  <p:clrMapOvr>
    <a:masterClrMapping/>
  </p:clrMapOvr>
  <p:transition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SUPERVISION &amp;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Know What Shipped Before It Leaves the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Import daily shipment manifests and track real-time packing progress on the floor.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4937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4937760" cy="381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7181A"/>
                </a:solidFill>
                <a:latin typeface="Segoe UI"/>
              </a:defRPr>
            </a:pPr>
            <a:r>
              <a:t>Real-Time Progress Meter</a:t>
            </a:r>
          </a:p>
          <a:p>
            <a:pPr>
              <a:spcBef>
                <a:spcPts val="4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Visual progress tracking packed parcels versus pending shipments across all bench stations.</a:t>
            </a:r>
            <a:br/>
            <a:r>
              <a:t>• Live counter of packed vs remaining parcels</a:t>
            </a:r>
            <a:br/>
            <a:r>
              <a:t>• Instant visual feedback on floor terminals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64992"/>
            <a:ext cx="4937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364992"/>
            <a:ext cx="4937760" cy="381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7181A"/>
                </a:solidFill>
                <a:latin typeface="Segoe UI"/>
              </a:defRPr>
            </a:pPr>
            <a:r>
              <a:t>Zero Missed Shipments</a:t>
            </a:r>
          </a:p>
          <a:p>
            <a:pPr>
              <a:spcBef>
                <a:spcPts val="4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Never leave an order sitting on the warehouse floor past the carrier cutoff.</a:t>
            </a:r>
            <a:br/>
            <a:r>
              <a:t>• Real-time alerts for un-packed orders</a:t>
            </a:r>
            <a:br/>
            <a:r>
              <a:t>• Prevents costly carrier re-dispatch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46904"/>
            <a:ext cx="4937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946904"/>
            <a:ext cx="4937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084064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7181A"/>
                </a:solidFill>
                <a:latin typeface="Segoe UI"/>
              </a:defRPr>
            </a:pPr>
            <a:r>
              <a:t>Shift Velocity Analytics</a:t>
            </a:r>
          </a:p>
          <a:p>
            <a:pPr>
              <a:spcBef>
                <a:spcPts val="4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Actionable pacing metrics to monitor station throughput and operator efficiency.</a:t>
            </a:r>
            <a:br/>
            <a:r>
              <a:t>• Tracks parcels packed per hour in real time</a:t>
            </a:r>
            <a:br/>
            <a:r>
              <a:t>• Historical shift ribbon and timeline ticks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5516575" cy="3420452"/>
          </a:xfrm>
          <a:prstGeom prst="rect">
            <a:avLst/>
          </a:prstGeom>
          <a:solidFill>
            <a:srgbClr val="17181A"/>
          </a:solidFill>
          <a:ln w="19050">
            <a:solidFill>
              <a:srgbClr val="7B8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1783080"/>
            <a:ext cx="5516575" cy="329184"/>
          </a:xfrm>
          <a:prstGeom prst="rect">
            <a:avLst/>
          </a:prstGeom>
          <a:solidFill>
            <a:srgbClr val="23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071616" y="1901952"/>
            <a:ext cx="101600" cy="10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837944"/>
            <a:ext cx="3230575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DCDFE2"/>
                </a:solidFill>
                <a:latin typeface="Consolas"/>
              </a:defRPr>
            </a:pPr>
            <a:r>
              <a:t>CLIPS ARCHIVE // MANIFEST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04527" y="1833372"/>
            <a:ext cx="1645920" cy="228600"/>
          </a:xfrm>
          <a:prstGeom prst="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00" b="1">
                <a:solidFill>
                  <a:srgbClr val="084A8C"/>
                </a:solidFill>
                <a:latin typeface="Consolas"/>
              </a:defRPr>
            </a:pPr>
            <a:r>
              <a:t>AUTO-INDEXED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12264"/>
            <a:ext cx="5516575" cy="12700"/>
          </a:xfrm>
          <a:prstGeom prst="rect">
            <a:avLst/>
          </a:prstGeom>
          <a:solidFill>
            <a:srgbClr val="7B8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realtime_archive_up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12264"/>
            <a:ext cx="5333695" cy="299982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035040" y="2112264"/>
            <a:ext cx="5333695" cy="2999828"/>
          </a:xfrm>
          <a:prstGeom prst="rect">
            <a:avLst/>
          </a:prstGeom>
          <a:noFill/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0" y="5340692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5340692"/>
            <a:ext cx="44450" cy="105156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5432132"/>
            <a:ext cx="24048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84A8C"/>
                </a:solidFill>
                <a:latin typeface="Consolas"/>
              </a:defRPr>
            </a:pPr>
            <a:r>
              <a:t>STORAGE QUOTA ENGINE</a:t>
            </a:r>
          </a:p>
          <a:p>
            <a:pPr>
              <a:spcBef>
                <a:spcPts val="2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Rolling FIFO disk manager prevents SSD overflow while locking flagged dispute files.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5340692"/>
            <a:ext cx="2679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78240" y="5340692"/>
            <a:ext cx="4445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42832" y="5432132"/>
            <a:ext cx="24048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65F46"/>
                </a:solidFill>
                <a:latin typeface="Consolas"/>
              </a:defRPr>
            </a:pPr>
            <a:r>
              <a:t>ERP &amp; WMS COMPATIBLE</a:t>
            </a:r>
          </a:p>
          <a:p>
            <a:pPr>
              <a:spcBef>
                <a:spcPts val="200"/>
              </a:spcBef>
              <a:defRPr sz="950">
                <a:solidFill>
                  <a:srgbClr val="3F454C"/>
                </a:solidFill>
                <a:latin typeface="Segoe UI"/>
              </a:defRPr>
            </a:pPr>
            <a:r>
              <a:t>Instant 1-click CSV export maps session timestamps directly to Shopify or ERP orders.</a:t>
            </a:r>
          </a:p>
        </p:txBody>
      </p:sp>
    </p:spTree>
  </p:cSld>
  <p:clrMapOvr>
    <a:masterClrMapping/>
  </p:clrMapOvr>
  <p:transition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FINANCIAL ROI &amp; PAYBACK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Pays for Itself in the First 30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Measured financial impact across active fulfillment and packing operations.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92808"/>
            <a:ext cx="3017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4A8C"/>
                </a:solidFill>
                <a:latin typeface="Segoe UI"/>
              </a:defRPr>
            </a:pPr>
            <a:r>
              <a:t>$1,850+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Saved per bench / month in claims prevented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92808"/>
            <a:ext cx="3017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F46"/>
                </a:solidFill>
                <a:latin typeface="Segoe UI"/>
              </a:defRPr>
            </a:pPr>
            <a:r>
              <a:t>98.4%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Dispute win rate across marketplaces &amp; couriers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892808"/>
            <a:ext cx="3017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A4300"/>
                </a:solidFill>
                <a:latin typeface="Segoe UI"/>
              </a:defRPr>
            </a:pPr>
            <a:r>
              <a:t>45 Sec</a:t>
            </a:r>
          </a:p>
          <a:p>
            <a:pPr>
              <a:spcBef>
                <a:spcPts val="3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Average dispute resolution time (down from 14 days)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10728655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1005840" y="3383280"/>
          <a:ext cx="10180015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DEPLOYMENT &amp;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Runs on Any Bench. Sets Up in 10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Works with the equipment and computers you already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468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2468880" cy="381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181A"/>
                </a:solidFill>
                <a:latin typeface="Segoe UI"/>
              </a:defRPr>
            </a:pPr>
            <a:r>
              <a:t>Any Camera Hardware</a:t>
            </a:r>
          </a:p>
          <a:p>
            <a:pPr>
              <a:spcBef>
                <a:spcPts val="8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Plugs into standard USB webcams, overhead bench cameras, or existing CCTV RTSP network streams without rewiring.</a:t>
            </a:r>
            <a:br/>
            <a:br/>
            <a:r>
              <a:t>• Works with 1080p webcams</a:t>
            </a:r>
            <a:br/>
            <a:r>
              <a:t>• Direct RTSP NVR streaming</a:t>
            </a:r>
            <a:br/>
            <a:r>
              <a:t>• Auto-reconnect hardware engine</a:t>
            </a:r>
            <a:br/>
            <a:r>
              <a:t>• Zero specialized capture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83080"/>
            <a:ext cx="2468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783080"/>
            <a:ext cx="2468880" cy="3810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181A"/>
                </a:solidFill>
                <a:latin typeface="Segoe UI"/>
              </a:defRPr>
            </a:pPr>
            <a:r>
              <a:t>Any Barcode Gun</a:t>
            </a:r>
          </a:p>
          <a:p>
            <a:pPr>
              <a:spcBef>
                <a:spcPts val="8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Compatible with standard wireless or USB 1D/2D scanner guns (Honeywell, Zebra, Datalogic, generic HID).</a:t>
            </a:r>
            <a:br/>
            <a:br/>
            <a:r>
              <a:t>• Zero scanner reprogramming</a:t>
            </a:r>
            <a:br/>
            <a:r>
              <a:t>• Keystroke burst detection</a:t>
            </a:r>
            <a:br/>
            <a:r>
              <a:t>• Works right out of the box</a:t>
            </a:r>
            <a:br/>
            <a:r>
              <a:t>• Multi-barcode order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2468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2468880" cy="38100"/>
          </a:xfrm>
          <a:prstGeom prst="rect">
            <a:avLst/>
          </a:prstGeom>
          <a:solidFill>
            <a:srgbClr val="C4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181A"/>
                </a:solidFill>
                <a:latin typeface="Segoe UI"/>
              </a:defRPr>
            </a:pPr>
            <a:r>
              <a:t>100% Offline Resilience</a:t>
            </a:r>
          </a:p>
          <a:p>
            <a:pPr>
              <a:spcBef>
                <a:spcPts val="8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Runs locally on Windows 10/11. Continues recording and saving even if warehouse Wi-Fi drops.</a:t>
            </a:r>
            <a:br/>
            <a:br/>
            <a:r>
              <a:t>• Standalone SQLite database</a:t>
            </a:r>
            <a:br/>
            <a:r>
              <a:t>• Local H.264 video encoding</a:t>
            </a:r>
            <a:br/>
            <a:r>
              <a:t>• Zero internet downtime risk</a:t>
            </a:r>
            <a:br/>
            <a:r>
              <a:t>• Zero bandwidth congestion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783080"/>
            <a:ext cx="2468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783080"/>
            <a:ext cx="24688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20116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181A"/>
                </a:solidFill>
                <a:latin typeface="Segoe UI"/>
              </a:defRPr>
            </a:pPr>
            <a:r>
              <a:t>Zero Cloud Storage Fees</a:t>
            </a:r>
          </a:p>
          <a:p>
            <a:pPr>
              <a:spcBef>
                <a:spcPts val="800"/>
              </a:spcBef>
              <a:defRPr sz="1050">
                <a:solidFill>
                  <a:srgbClr val="3F454C"/>
                </a:solidFill>
                <a:latin typeface="Segoe UI"/>
              </a:defRPr>
            </a:pPr>
            <a:r>
              <a:t>Videos save directly to your workstation SSD or local NAS. No surprise cloud egress bills.</a:t>
            </a:r>
            <a:br/>
            <a:br/>
            <a:r>
              <a:t>• Keep recordings on local disk</a:t>
            </a:r>
            <a:br/>
            <a:r>
              <a:t>• Automatic disk space reclamation</a:t>
            </a:r>
            <a:br/>
            <a:r>
              <a:t>• Complete data ownership</a:t>
            </a:r>
            <a:br/>
            <a:r>
              <a:t>• Zero monthly AWS storage fees</a:t>
            </a:r>
          </a:p>
        </p:txBody>
      </p:sp>
    </p:spTree>
  </p:cSld>
  <p:clrMapOvr>
    <a:masterClrMapping/>
  </p:clrMapOvr>
  <p:transition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E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solidFill>
            <a:srgbClr val="DCE8F5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850" b="1">
                <a:solidFill>
                  <a:srgbClr val="084A8C"/>
                </a:solidFill>
                <a:latin typeface="Consolas"/>
              </a:defRPr>
            </a:pPr>
            <a:r>
              <a:t>NEXT STEPS &amp; PILOT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365760"/>
            <a:ext cx="1127455" cy="256032"/>
          </a:xfrm>
          <a:prstGeom prst="rect">
            <a:avLst/>
          </a:prstGeom>
          <a:solidFill>
            <a:srgbClr val="F6F7F7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0">
                <a:solidFill>
                  <a:srgbClr val="565E66"/>
                </a:solidFill>
                <a:latin typeface="Consolas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7181A"/>
                </a:solidFill>
                <a:latin typeface="Segoe UI"/>
              </a:defRPr>
            </a:pPr>
            <a:r>
              <a:t>Protect Your Packing Floor Starting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3F454C"/>
                </a:solidFill>
                <a:latin typeface="Segoe UI"/>
              </a:defRPr>
            </a:pPr>
            <a:r>
              <a:t>Deploy Provenance on a single packing bench in 10 minutes and see the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72768"/>
            <a:ext cx="10728655" cy="12700"/>
          </a:xfrm>
          <a:prstGeom prst="rect">
            <a:avLst/>
          </a:prstGeom>
          <a:solidFill>
            <a:srgbClr val="C9C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50800" cy="210312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181A"/>
                </a:solidFill>
                <a:latin typeface="Segoe UI"/>
              </a:defRPr>
            </a:pPr>
            <a:r>
              <a:t>No IT Overhaul Required</a:t>
            </a:r>
          </a:p>
          <a:p>
            <a:pPr>
              <a:spcBef>
                <a:spcPts val="600"/>
              </a:spcBef>
              <a:defRPr sz="1100">
                <a:solidFill>
                  <a:srgbClr val="3F454C"/>
                </a:solidFill>
                <a:latin typeface="Segoe UI"/>
              </a:defRPr>
            </a:pPr>
            <a:r>
              <a:t>Download the single-file setup wizard, connect your USB or RTSP camera, and start recording in 10 minutes without touching warehouse firewalls.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50800" cy="21031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181A"/>
                </a:solidFill>
                <a:latin typeface="Segoe UI"/>
              </a:defRPr>
            </a:pPr>
            <a:r>
              <a:t>Zero-Risk 30-Day Pilot</a:t>
            </a:r>
          </a:p>
          <a:p>
            <a:pPr>
              <a:spcBef>
                <a:spcPts val="600"/>
              </a:spcBef>
              <a:defRPr sz="1100">
                <a:solidFill>
                  <a:srgbClr val="3F454C"/>
                </a:solidFill>
                <a:latin typeface="Segoe UI"/>
              </a:defRPr>
            </a:pPr>
            <a:r>
              <a:t>Test Provenance on your highest-volume packing bench. Measure dispute claim reductions with zero long-term commitment or hardware lock-in.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50800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6596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181A"/>
                </a:solidFill>
                <a:latin typeface="Segoe UI"/>
              </a:defRPr>
            </a:pPr>
            <a:r>
              <a:t>Full Floor Support Included</a:t>
            </a:r>
          </a:p>
          <a:p>
            <a:pPr>
              <a:spcBef>
                <a:spcPts val="600"/>
              </a:spcBef>
              <a:defRPr sz="1100">
                <a:solidFill>
                  <a:srgbClr val="3F454C"/>
                </a:solidFill>
                <a:latin typeface="Segoe UI"/>
              </a:defRPr>
            </a:pPr>
            <a:r>
              <a:t>Printable laminated command barcodes, operator quick-start placards, and priority remote onboarding provided by our deployment team.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60520"/>
            <a:ext cx="10728655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9971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4A8C"/>
                </a:solidFill>
                <a:latin typeface="Segoe UI"/>
              </a:defRPr>
            </a:pPr>
            <a:r>
              <a:t>READY TO ELIMINATE PACKING DISPUTES?</a:t>
            </a:r>
          </a:p>
          <a:p>
            <a:pPr algn="ctr">
              <a:spcBef>
                <a:spcPts val="600"/>
              </a:spcBef>
              <a:defRPr sz="2400" b="1">
                <a:solidFill>
                  <a:srgbClr val="17181A"/>
                </a:solidFill>
                <a:latin typeface="Segoe UI"/>
              </a:defRPr>
            </a:pPr>
            <a:r>
              <a:t>Book a 15-Minute Live Packing Bench Walkthrough</a:t>
            </a:r>
          </a:p>
          <a:p>
            <a:pPr algn="ctr">
              <a:spcBef>
                <a:spcPts val="1000"/>
              </a:spcBef>
              <a:defRPr sz="1200">
                <a:solidFill>
                  <a:srgbClr val="3F454C"/>
                </a:solidFill>
                <a:latin typeface="Consolas"/>
              </a:defRPr>
            </a:pPr>
            <a:r>
              <a:t>Contact: sales@provenance-systems.com  |  Direct Pilot Setup: +1 (800) 555-PACK</a:t>
            </a:r>
          </a:p>
        </p:txBody>
      </p:sp>
    </p:spTree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1992</Words>
  <Application>Microsoft Office PowerPoint</Application>
  <PresentationFormat>Widescreen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Sharvin Neve</dc:creator>
  <cp:keywords/>
  <dc:description>generated using python-pptx</dc:description>
  <cp:lastModifiedBy>Sharvin Neve</cp:lastModifiedBy>
  <cp:revision>2</cp:revision>
  <dcterms:created xsi:type="dcterms:W3CDTF">2013-01-27T09:14:16Z</dcterms:created>
  <dcterms:modified xsi:type="dcterms:W3CDTF">2026-10-10T04:24:56Z</dcterms:modified>
  <cp:category/>
</cp:coreProperties>
</file>