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4022556-7815-F856-61D1-860D706D2DF3}">
          <p14:sldIdLst>
            <p14:sldId id="256"/>
          </p14:sldIdLst>
        </p14:section>
        <p14:section name="Problem" id="{CB4FD372-F909-1C14-C549-9D5483CF39B9}">
          <p14:sldIdLst>
            <p14:sldId id="257"/>
            <p14:sldId id="258"/>
          </p14:sldIdLst>
        </p14:section>
        <p14:section name="Solution" id="{FB0B204C-3549-0A5D-9F20-FCBB1CE8C189}">
          <p14:sldIdLst>
            <p14:sldId id="259"/>
            <p14:sldId id="260"/>
            <p14:sldId id="261"/>
          </p14:sldIdLst>
        </p14:section>
        <p14:section name="Operations" id="{261F91F5-3AF4-41EF-6EEB-3368EB331B76}">
          <p14:sldIdLst>
            <p14:sldId id="262"/>
            <p14:sldId id="263"/>
          </p14:sldIdLst>
        </p14:section>
        <p14:section name="Deployment" id="{9870049A-710D-0966-EA74-9E92879BC9E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36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(15-20s): Set the tone with absolute authority. Provenance turns ordinary packaging tables into tamper-proof forensic recording stations without slowing down warehouse packers.
DETAIL (kept off the slide): Trigger: sub-50ms keystroke burst detection with zero operator delay or screen interaction. Admissibility: cryptographic SHA-256 hash locked to NTP time and station hardware ID. Dispute win rate: direct dispute recovery on contested orders with immediate carrier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(30-40s): Establish the core business pain point. Walk through the 4 failure stages. Highlight the asymmetry: the distributor has 100% of the financial burden but zero visual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Highlight the contrast. Show how Provenance eliminates 28 minutes of manual NVR scrubbing and shifts dispute recovery from 18% to 82% with cryptographic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(30-45s): Present the 3 pillars. Emphasize that packers never touch a keyboard or mouse. The rolling 5s circular buffer guarantees pre-scan packaging is captured.
DETAIL (kept off the slide). Subsystem 01: hardware-level keystroke parser under 50ms latency, runs entirely in the background without window focus, compatible with all 2D USB and Bluetooth scanners, zero disruption to high-speed packing flow. Subsystem 02: captures item pickup before the barcode scan occurs, seamlessly prepends buffer frames to the cut, high-throughput OpenCV RTSP memory engine, zero storage write wear during the standby ring. Subsystem 03: SHA-256 signature calculated at recording finish, station ID and millisecond timestamp stamped, local SQLite database gives instant sub-2s query, admissible in formal carrier and legal disputes.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Walk through the operator experience. Stress zero screen changes, audible and visual confirmation beeps, and how simple the workflow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(25-30s): Reassure technical buyers and warehouse IT. Emphasize local-first edge recording with zero external cloud dependencies for continuous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(25-30s): Showcase industrial grade hardware. Rated for dust, high drops, and 24/7 continuous warehouse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(30s): Drive home the financial justification. Highlight the 82% win rate, 4.2x faster resolution, and $48,000 annual savings per 10 packaging benches.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(25s): Show low friction adoption. A structured 4-week rollout that integrates with existing bench layouts without warehouse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GOAL (20-30s): Call to action. Close with a frictionless offer: a 15-minute live bench demonstration or a 30-day pilot on their highest-volume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2000"/>
              </a:lnSpc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 STATION SUITE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155680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2000"/>
              </a:lnSpc>
              <a:buNone/>
              <a:defRPr lang="en-US" sz="38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 STATION SUITE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155680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280160"/>
            <a:ext cx="65836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2000"/>
              </a:lnSpc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" y="868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000" b="1">
                <a:solidFill>
                  <a:srgbClr val="059669"/>
                </a:solidFill>
                <a:latin typeface="Consolas"/>
              </a:defRPr>
            </a:pPr>
            <a:r>
              <a:t>PROVENANCE   •   AUTOMATED PACKING SURVEILLANCE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2801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  <a:defRPr sz="3600" b="1">
                <a:solidFill>
                  <a:srgbClr val="17181A"/>
                </a:solidFill>
                <a:latin typeface="Segoe UI"/>
              </a:defRPr>
            </a:pPr>
            <a:r>
              <a:rPr sz="2800" b="1"/>
              <a:t>Instant Video Proof for Every Outbound Parcel</a:t>
            </a:r>
            <a:endParaRPr lang="en-US" sz="5000" dirty="0"/>
          </a:p>
          <a:p>
            <a:pPr>
              <a:defRPr sz="3600" b="1">
                <a:solidFill>
                  <a:srgbClr val="17181A"/>
                </a:solidFill>
                <a:latin typeface="Segoe UI"/>
              </a:defRPr>
            </a:pPr>
            <a:r>
              <a:rPr sz="2800" b="1"/>
              <a:t>with Zero Worker Delay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94360" y="38404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Records automatically from existing handheld barcode scans with zero operator friction.</a:t>
            </a:r>
          </a:p>
        </p:txBody>
      </p:sp>
      <p:sp>
        <p:nvSpPr>
          <p:cNvPr id="5" name="Stat card 1"/>
          <p:cNvSpPr/>
          <p:nvPr/>
        </p:nvSpPr>
        <p:spPr>
          <a:xfrm>
            <a:off x="59436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95528" y="5047488"/>
            <a:ext cx="1737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  <a:defRPr sz="2600" b="1">
                <a:solidFill>
                  <a:srgbClr val="17181A"/>
                </a:solidFill>
                <a:latin typeface="Segoe UI"/>
              </a:defRPr>
            </a:pPr>
            <a:r>
              <a:t>1080p FHD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950" b="1">
                <a:solidFill>
                  <a:srgbClr val="059669"/>
                </a:solidFill>
                <a:latin typeface="Consolas"/>
              </a:defRPr>
            </a:pPr>
            <a:r>
              <a:t>Adaptive Vision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278892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2990088" y="5047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600" b="1">
                <a:solidFill>
                  <a:srgbClr val="17181A"/>
                </a:solidFill>
                <a:latin typeface="Segoe UI"/>
              </a:defRPr>
            </a:pPr>
            <a:r>
              <a:t>0 Clicks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950" b="1">
                <a:solidFill>
                  <a:srgbClr val="059669"/>
                </a:solidFill>
                <a:latin typeface="Consolas"/>
              </a:defRPr>
            </a:pPr>
            <a:r>
              <a:t>Zero Worker Friction</a:t>
            </a:r>
            <a:endParaRPr lang="en-US" sz="1000" dirty="0"/>
          </a:p>
        </p:txBody>
      </p:sp>
      <p:sp>
        <p:nvSpPr>
          <p:cNvPr id="11" name="Stat card 3"/>
          <p:cNvSpPr/>
          <p:nvPr/>
        </p:nvSpPr>
        <p:spPr>
          <a:xfrm>
            <a:off x="4983480" y="493776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184648" y="5047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600" b="1">
                <a:solidFill>
                  <a:srgbClr val="059669"/>
                </a:solidFill>
                <a:latin typeface="Segoe UI"/>
              </a:defRPr>
            </a:pPr>
            <a:r>
              <a:t>&lt; 2s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84648" y="5669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950" b="1">
                <a:solidFill>
                  <a:srgbClr val="059669"/>
                </a:solidFill>
                <a:latin typeface="Consolas"/>
              </a:defRPr>
            </a:pPr>
            <a:r>
              <a:t>Instant Evidence</a:t>
            </a:r>
            <a:endParaRPr lang="en-US" sz="1000" dirty="0"/>
          </a:p>
        </p:txBody>
      </p:sp>
      <p:sp>
        <p:nvSpPr>
          <p:cNvPr id="14" name="Rig status panel"/>
          <p:cNvSpPr/>
          <p:nvPr/>
        </p:nvSpPr>
        <p:spPr>
          <a:xfrm>
            <a:off x="7178040" y="868680"/>
            <a:ext cx="4416552" cy="5166360"/>
          </a:xfrm>
          <a:prstGeom prst="roundRect">
            <a:avLst>
              <a:gd name="adj" fmla="val 207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Viewfinder"/>
          <p:cNvSpPr/>
          <p:nvPr/>
        </p:nvSpPr>
        <p:spPr>
          <a:xfrm>
            <a:off x="7406640" y="1097280"/>
            <a:ext cx="3959352" cy="23317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Bench surface"/>
          <p:cNvSpPr/>
          <p:nvPr/>
        </p:nvSpPr>
        <p:spPr>
          <a:xfrm>
            <a:off x="7589520" y="2560320"/>
            <a:ext cx="3593592" cy="68580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Parcel"/>
          <p:cNvSpPr/>
          <p:nvPr/>
        </p:nvSpPr>
        <p:spPr>
          <a:xfrm>
            <a:off x="8778240" y="1874520"/>
            <a:ext cx="1371600" cy="8686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778240" y="2194560"/>
            <a:ext cx="13716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canner"/>
          <p:cNvSpPr/>
          <p:nvPr/>
        </p:nvSpPr>
        <p:spPr>
          <a:xfrm>
            <a:off x="10561320" y="2651760"/>
            <a:ext cx="502920" cy="32004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149840" y="2468880"/>
            <a:ext cx="411480" cy="27432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516368" y="1207008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516368" y="1207008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981944" y="1207008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1256264" y="1207008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16368" y="3319272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516368" y="3044952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981944" y="3319272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256264" y="3044952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 dot"/>
          <p:cNvSpPr/>
          <p:nvPr/>
        </p:nvSpPr>
        <p:spPr>
          <a:xfrm>
            <a:off x="7790688" y="1399032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973568" y="1344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1344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1000">
                <a:solidFill>
                  <a:srgbClr val="3F454C"/>
                </a:solidFill>
                <a:latin typeface="Consolas"/>
              </a:defRPr>
            </a:pPr>
            <a:r>
              <a:t>1080p FHD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3703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37033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17181A"/>
                </a:solidFill>
                <a:latin typeface="Consolas"/>
              </a:defRPr>
            </a:pPr>
            <a:r>
              <a:t>1080p Full HD Industrial Sensor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4087368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7406640" y="4123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64748B"/>
                </a:solidFill>
                <a:latin typeface="Consolas"/>
              </a:defRPr>
            </a:pPr>
            <a:r>
              <a:t>LIGHTING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41239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3F454C"/>
                </a:solidFill>
                <a:latin typeface="Consolas"/>
              </a:defRPr>
            </a:pPr>
            <a:r>
              <a:t>Dynamic anti-glare optimization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4507992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406640" y="4544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64748B"/>
                </a:solidFill>
                <a:latin typeface="Consolas"/>
              </a:defRPr>
            </a:pPr>
            <a:r>
              <a:t>PRE-ROLL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5445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3F454C"/>
                </a:solidFill>
                <a:latin typeface="Consolas"/>
              </a:defRPr>
            </a:pPr>
            <a:r>
              <a:t>5-second continuous buffer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4928616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7406640" y="49651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64748B"/>
                </a:solidFill>
                <a:latin typeface="Consolas"/>
              </a:defRPr>
            </a:pPr>
            <a:r>
              <a:t>TRIGGER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412480" y="49651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3F454C"/>
                </a:solidFill>
                <a:latin typeface="Consolas"/>
              </a:defRPr>
            </a:pPr>
            <a:r>
              <a:t>Standard barcode scan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5349240"/>
            <a:ext cx="39593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7406640" y="538581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64748B"/>
                </a:solidFill>
                <a:latin typeface="Consolas"/>
              </a:defRPr>
            </a:pPr>
            <a:r>
              <a:t>STORAGE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53858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>
                <a:solidFill>
                  <a:srgbClr val="059669"/>
                </a:solidFill>
                <a:latin typeface="Consolas"/>
              </a:defRPr>
            </a:pPr>
            <a:r>
              <a:t>Secure local station database</a:t>
            </a:r>
            <a:endParaRPr lang="en-US" sz="1100" dirty="0"/>
          </a:p>
        </p:txBody>
      </p:sp>
      <p:pic>
        <p:nvPicPr>
          <p:cNvPr id="46" name="Picture 45" descr="provenan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830000"/>
            <a:ext cx="292608" cy="292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Active phase dot"/>
          <p:cNvSpPr/>
          <p:nvPr/>
        </p:nvSpPr>
        <p:spPr>
          <a:xfrm>
            <a:off x="5182819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The High-Cost Reality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600" b="1"/>
              <a:t>Unverified Packing Forces Merchants to Forfeit 82% of Claims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Generic ceiling cameras offer zero parcel contents proof, forcing merchants to absorb 100% of dispute losses.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94360" y="2487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Rs 3,500 to Rs 15,000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loss per contested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542032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309360" y="2487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Unrecorded claims forfeited by merchants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3749040"/>
            <a:ext cx="8366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imeline node 1"/>
          <p:cNvSpPr/>
          <p:nvPr/>
        </p:nvSpPr>
        <p:spPr>
          <a:xfrm>
            <a:off x="59436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9436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01 • Day 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Blind Dispatch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Operator scans shipping label and packs order. 20-foot ceiling camera is blocked by worker shoulders.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Zero visual record of package contents at seal time.</a:t>
            </a:r>
            <a:endParaRPr lang="en-US" sz="1300" dirty="0"/>
          </a:p>
        </p:txBody>
      </p:sp>
      <p:sp>
        <p:nvSpPr>
          <p:cNvPr id="22" name="Timeline node 2"/>
          <p:cNvSpPr/>
          <p:nvPr/>
        </p:nvSpPr>
        <p:spPr>
          <a:xfrm>
            <a:off x="338328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338328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02 • Day 5 to 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Customer Dispute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Buyer claims an empty box or missing item. Marketplace or payment gateway freezes funds automatically.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Merchant carries 100% burden of proof.</a:t>
            </a:r>
            <a:endParaRPr lang="en-US" sz="1300" dirty="0"/>
          </a:p>
        </p:txBody>
      </p:sp>
      <p:sp>
        <p:nvSpPr>
          <p:cNvPr id="27" name="Timeline node 3"/>
          <p:cNvSpPr/>
          <p:nvPr/>
        </p:nvSpPr>
        <p:spPr>
          <a:xfrm>
            <a:off x="6172200" y="36667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17220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03 • Day 12 to 18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CCTV Scrub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Staff spends 28 minutes searching generic ceiling footage. Tape glare and blur make contents unidentifiable.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Courier rejects blurry wide-angle clip.</a:t>
            </a:r>
            <a:endParaRPr lang="en-US" sz="1300" dirty="0"/>
          </a:p>
        </p:txBody>
      </p:sp>
      <p:sp>
        <p:nvSpPr>
          <p:cNvPr id="32" name="Timeline node 4"/>
          <p:cNvSpPr/>
          <p:nvPr/>
        </p:nvSpPr>
        <p:spPr>
          <a:xfrm>
            <a:off x="8961120" y="366674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8961120" y="39776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04 • Day 21+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2793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Claim Forfeited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Courier dispute window closes. Merchant absorbs replacement merchandise, reverse logistics, and penalty charges.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100% of order value permanently written off.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Active phase dot"/>
          <p:cNvSpPr/>
          <p:nvPr/>
        </p:nvSpPr>
        <p:spPr>
          <a:xfrm>
            <a:off x="5182819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Operational Comparison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500" b="1"/>
              <a:t>Traditional CCTV Takes 28 Mins; Provenance Proves in Under 2 Seconds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Replacing blind ceiling guesswork with instant, package-indexed video proof for every parcel.</a:t>
            </a:r>
          </a:p>
        </p:txBody>
      </p:sp>
      <p:sp>
        <p:nvSpPr>
          <p:cNvPr id="11" name="Before card"/>
          <p:cNvSpPr/>
          <p:nvPr/>
        </p:nvSpPr>
        <p:spPr>
          <a:xfrm>
            <a:off x="594360" y="2395728"/>
            <a:ext cx="5394960" cy="3547872"/>
          </a:xfrm>
          <a:prstGeom prst="roundRect">
            <a:avLst>
              <a:gd name="adj" fmla="val 2577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After card"/>
          <p:cNvSpPr/>
          <p:nvPr/>
        </p:nvSpPr>
        <p:spPr>
          <a:xfrm>
            <a:off x="6199632" y="2395728"/>
            <a:ext cx="5394960" cy="3547872"/>
          </a:xfrm>
          <a:prstGeom prst="roundRect">
            <a:avLst>
              <a:gd name="adj" fmla="val 2577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Traditional CCTV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Provenance Station Proof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944368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19672" y="2944368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1440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Time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28 min manual scrub across multiple cameras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Time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Sub-2s instant query by barcode number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456432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519672" y="3456432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4400" y="3529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Accuracy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Guesswork based on estimated dispatch time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529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Accuracy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Exact clip automatically tagged to tracking ID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3968496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19672" y="3968496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14400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Packing Coverage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Misses pre-scan packing steps before label scan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19672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Packing Coverage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5-second automatic buffer captures item placement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480560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519672" y="4480560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914400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Clarity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Blurry wide-angle ceiling view with tape glare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Clarity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1080p Full HD bench view with anti-glare tuning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4400" y="4992624"/>
            <a:ext cx="4754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519672" y="4992624"/>
            <a:ext cx="4754880" cy="0"/>
          </a:xfrm>
          <a:prstGeom prst="line">
            <a:avLst/>
          </a:prstGeom>
          <a:noFill/>
          <a:ln w="9525">
            <a:solidFill>
              <a:srgbClr val="D0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914400" y="50657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19672" y="50657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" y="5202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accent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18%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2331720" y="5202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average claim recovery rate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19672" y="5202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accent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600" dirty="0"/>
          </a:p>
        </p:txBody>
      </p:sp>
      <p:sp>
        <p:nvSpPr>
          <p:cNvPr id="46" name="Text 44"/>
          <p:cNvSpPr txBox="1"/>
          <p:nvPr/>
        </p:nvSpPr>
        <p:spPr>
          <a:xfrm>
            <a:off x="7936992" y="5202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 dispute win rate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94360" y="6053328"/>
            <a:ext cx="11000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Verified packaging video retrieved in seconds reverses false shortage claims with immediate courier sign-off.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Automated Bench Verification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600" b="1"/>
              <a:t>Three Automated Subsystems Capture Proof with Zero Packing Delay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Built specifically for high-speed warehouse packing lines without changing worker habits.</a:t>
            </a:r>
          </a:p>
        </p:txBody>
      </p:sp>
      <p:sp>
        <p:nvSpPr>
          <p:cNvPr id="11" name="Subsystem band 1"/>
          <p:cNvSpPr/>
          <p:nvPr/>
        </p:nvSpPr>
        <p:spPr>
          <a:xfrm>
            <a:off x="594360" y="2514600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14400" y="2825496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za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62656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91640" y="2734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 Clicks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3300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Worker Friction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26243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282549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Instant 0-Click Barcode Trigger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3154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Seamlessly intercepts barcode scans from existing USB or wireless handheld scanners. Triggers recording with zero mouse clicks and zero operator slowdown.</a:t>
            </a:r>
            <a:endParaRPr lang="en-US" sz="1350" dirty="0"/>
          </a:p>
        </p:txBody>
      </p:sp>
      <p:sp>
        <p:nvSpPr>
          <p:cNvPr id="19" name="Subsystem band 2"/>
          <p:cNvSpPr/>
          <p:nvPr/>
        </p:nvSpPr>
        <p:spPr>
          <a:xfrm>
            <a:off x="594360" y="3776472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1" descr="c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2452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91640" y="3995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 Sec</a:t>
            </a:r>
            <a:endParaRPr lang="en-US" sz="3600" dirty="0"/>
          </a:p>
        </p:txBody>
      </p:sp>
      <p:sp>
        <p:nvSpPr>
          <p:cNvPr id="23" name="Text 19"/>
          <p:cNvSpPr txBox="1"/>
          <p:nvPr/>
        </p:nvSpPr>
        <p:spPr>
          <a:xfrm>
            <a:off x="1691640" y="4562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Buffer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434840" y="38862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434840" y="408736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5-Second Continuous Visual Buffer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434840" y="44165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Maintains a rolling visual buffer so the clip captures the moments before the scan, preserving complete footage of item placement and box sealing.</a:t>
            </a:r>
            <a:endParaRPr lang="en-US" sz="1350" dirty="0"/>
          </a:p>
        </p:txBody>
      </p:sp>
      <p:sp>
        <p:nvSpPr>
          <p:cNvPr id="27" name="Subsystem band 3"/>
          <p:cNvSpPr/>
          <p:nvPr/>
        </p:nvSpPr>
        <p:spPr>
          <a:xfrm>
            <a:off x="594360" y="5038344"/>
            <a:ext cx="11000232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2" descr="lo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4864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69164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3600" dirty="0"/>
          </a:p>
        </p:txBody>
      </p:sp>
      <p:sp>
        <p:nvSpPr>
          <p:cNvPr id="31" name="Text 26"/>
          <p:cNvSpPr txBox="1"/>
          <p:nvPr/>
        </p:nvSpPr>
        <p:spPr>
          <a:xfrm>
            <a:off x="1691640" y="5824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Vision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434840" y="514807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 03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4434840" y="534924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1080p Industrial Camera with Lighting Tuning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4434840" y="56784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High-definition bench camera automatically adjusts exposure and contrast to eliminate tape glare and maintain sharp package clarity in any warehouse lighting.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Three-Step Packing Cycle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600" b="1"/>
              <a:t>Operators Follow a Simple 3-Step Routine Without Touching a Mouse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Every action triggers through physical barcodes, keeping packing flow at full operational speed.</a:t>
            </a:r>
          </a:p>
        </p:txBody>
      </p:sp>
      <p:sp>
        <p:nvSpPr>
          <p:cNvPr id="11" name="Step card 1"/>
          <p:cNvSpPr/>
          <p:nvPr/>
        </p:nvSpPr>
        <p:spPr>
          <a:xfrm>
            <a:off x="594360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scann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793492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Barcode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Operator scans shipping label with handheld scanner. System triggers automatically with 5s pre-roll buffer.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0.2s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9" name="Flow chevron 1"/>
          <p:cNvSpPr/>
          <p:nvPr/>
        </p:nvSpPr>
        <p:spPr>
          <a:xfrm>
            <a:off x="4107942" y="3465576"/>
            <a:ext cx="164592" cy="201168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tep card 2"/>
          <p:cNvSpPr/>
          <p:nvPr/>
        </p:nvSpPr>
        <p:spPr>
          <a:xfrm>
            <a:off x="4402836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631436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pack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793492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22579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31436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Pack &amp; Seal Parcel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631436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Bench camera records in 1080p Full HD while worker packs. Visual on-screen indicator confirms active recording.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631436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Natural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6231636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8" name="Flow chevron 2"/>
          <p:cNvSpPr/>
          <p:nvPr/>
        </p:nvSpPr>
        <p:spPr>
          <a:xfrm>
            <a:off x="7916418" y="3465576"/>
            <a:ext cx="164592" cy="201168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tep card 3"/>
          <p:cNvSpPr/>
          <p:nvPr/>
        </p:nvSpPr>
        <p:spPr>
          <a:xfrm>
            <a:off x="8211312" y="2514600"/>
            <a:ext cx="338328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8439912" y="2679192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2" descr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793492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034272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439912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Finish Placard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439912" y="3538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Operator scans physical desk finish placard. Recording finalizes, saves, and indexes instantly by tracking barcode.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8439912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0.1s</a:t>
            </a:r>
            <a:endParaRPr lang="en-US" sz="2400" dirty="0"/>
          </a:p>
        </p:txBody>
      </p:sp>
      <p:sp>
        <p:nvSpPr>
          <p:cNvPr id="36" name="Text 31"/>
          <p:cNvSpPr txBox="1"/>
          <p:nvPr/>
        </p:nvSpPr>
        <p:spPr>
          <a:xfrm>
            <a:off x="10040112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pic>
        <p:nvPicPr>
          <p:cNvPr id="37" name="Image 3" descr="Bench finish placard with a Code 128 barcode and a QR code, both labeled FINIS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937760"/>
            <a:ext cx="3383280" cy="1311763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02920" y="484632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502920" y="484632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4"/>
          <p:cNvSpPr/>
          <p:nvPr/>
        </p:nvSpPr>
        <p:spPr>
          <a:xfrm>
            <a:off x="3840480" y="484632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5"/>
          <p:cNvSpPr/>
          <p:nvPr/>
        </p:nvSpPr>
        <p:spPr>
          <a:xfrm>
            <a:off x="4069080" y="484632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6"/>
          <p:cNvSpPr/>
          <p:nvPr/>
        </p:nvSpPr>
        <p:spPr>
          <a:xfrm>
            <a:off x="502920" y="6340963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7"/>
          <p:cNvSpPr/>
          <p:nvPr/>
        </p:nvSpPr>
        <p:spPr>
          <a:xfrm>
            <a:off x="502920" y="6112363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38"/>
          <p:cNvSpPr/>
          <p:nvPr/>
        </p:nvSpPr>
        <p:spPr>
          <a:xfrm>
            <a:off x="3840480" y="6340963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39"/>
          <p:cNvSpPr/>
          <p:nvPr/>
        </p:nvSpPr>
        <p:spPr>
          <a:xfrm>
            <a:off x="4069080" y="6112363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0"/>
          <p:cNvSpPr txBox="1"/>
          <p:nvPr/>
        </p:nvSpPr>
        <p:spPr>
          <a:xfrm>
            <a:off x="4434840" y="49377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Finish Placard • Durable Desk Mount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4434840" y="52395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durable barcode placard sits on the packing table within easy reach. One quick scan finalizes the recording and readies the station for the next order.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4434840" y="5943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mouse. No keyboard. No window switching.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Active phase dot"/>
          <p:cNvSpPr/>
          <p:nvPr/>
        </p:nvSpPr>
        <p:spPr>
          <a:xfrm>
            <a:off x="6627571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Local-First Architecture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400" b="1"/>
              <a:t>Local-First Edge Architecture Runs 24/7 Without Cloud or Wi-Fi Dependencies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Video buffers and indices remain 100% operational on local hardware, immune to warehouse network drops.</a:t>
            </a:r>
          </a:p>
        </p:txBody>
      </p:sp>
      <p:sp>
        <p:nvSpPr>
          <p:cNvPr id="11" name="Tier slab 3"/>
          <p:cNvSpPr/>
          <p:nvPr/>
        </p:nvSpPr>
        <p:spPr>
          <a:xfrm>
            <a:off x="594360" y="251460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894076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Portal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48840" y="3520440"/>
            <a:ext cx="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4023360" y="24871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Dispute &amp; Claims Portal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8437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Instant barcode search by AWB or order ID. Generates a compact MP4 video proof clip ready for one-click submission to courier and marketplace dispute portals.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Sub-2s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31089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Barcode Search</a:t>
            </a:r>
            <a:endParaRPr lang="en-US" sz="1000" dirty="0"/>
          </a:p>
        </p:txBody>
      </p:sp>
      <p:sp>
        <p:nvSpPr>
          <p:cNvPr id="21" name="Tier slab 2"/>
          <p:cNvSpPr/>
          <p:nvPr/>
        </p:nvSpPr>
        <p:spPr>
          <a:xfrm>
            <a:off x="594360" y="370332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868680" y="395935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1" descr="cpu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082796"/>
            <a:ext cx="246888" cy="24688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55448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02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55448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Engine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148840" y="4709160"/>
            <a:ext cx="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 txBox="1"/>
          <p:nvPr/>
        </p:nvSpPr>
        <p:spPr>
          <a:xfrm>
            <a:off x="4023360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Station Edge Engine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4023360" y="403250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Local-first background service that records, buffers, and indexes video locally on the bench PC. Runs 24/7 with zero dependency on warehouse cloud or network uptime.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326880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9326880" y="42976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Resilient</a:t>
            </a:r>
            <a:endParaRPr lang="en-US" sz="1000" dirty="0"/>
          </a:p>
        </p:txBody>
      </p:sp>
      <p:sp>
        <p:nvSpPr>
          <p:cNvPr id="31" name="Tier slab 1"/>
          <p:cNvSpPr/>
          <p:nvPr/>
        </p:nvSpPr>
        <p:spPr>
          <a:xfrm>
            <a:off x="594360" y="489204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/>
          <p:cNvSpPr/>
          <p:nvPr/>
        </p:nvSpPr>
        <p:spPr>
          <a:xfrm>
            <a:off x="868680" y="5148072"/>
            <a:ext cx="493776" cy="49377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2" descr="camera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271516"/>
            <a:ext cx="246888" cy="24688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554480" y="5138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01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554480" y="5440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Rig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4023360" y="4864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Hardware Bench Rig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4023360" y="522122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Industrial 1080p camera with dynamic lighting tuning, existing handheld barcode scanner, and clear audio-visual packing confirmation.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9326880" y="48920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3000" dirty="0"/>
          </a:p>
        </p:txBody>
      </p:sp>
      <p:sp>
        <p:nvSpPr>
          <p:cNvPr id="39" name="Text 34"/>
          <p:cNvSpPr txBox="1"/>
          <p:nvPr/>
        </p:nvSpPr>
        <p:spPr>
          <a:xfrm>
            <a:off x="9326880" y="548640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 Optimized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Active phase dot"/>
          <p:cNvSpPr/>
          <p:nvPr/>
        </p:nvSpPr>
        <p:spPr>
          <a:xfrm>
            <a:off x="8178394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Industrial Duty Rig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500" b="1"/>
              <a:t>Heavy-Duty Hardware Built for Continuous Warehouse Vibration and Noise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Rigid industrial-grade components ensure uninterrupted 24/7 performance on active packing tables.</a:t>
            </a:r>
          </a:p>
        </p:txBody>
      </p:sp>
      <p:sp>
        <p:nvSpPr>
          <p:cNvPr id="11" name="Spec card 1"/>
          <p:cNvSpPr/>
          <p:nvPr/>
        </p:nvSpPr>
        <p:spPr>
          <a:xfrm>
            <a:off x="59436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camera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85750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• Bench Camera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1080p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1080p Full HD industrial sensor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Adaptive lighting tuning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Anti-glare tape optimization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Wide bench angle coverage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Rigid industrial mount arm</a:t>
            </a:r>
            <a:endParaRPr lang="en-US" sz="1300" dirty="0"/>
          </a:p>
        </p:txBody>
      </p:sp>
      <p:sp>
        <p:nvSpPr>
          <p:cNvPr id="17" name="Spec card 2"/>
          <p:cNvSpPr/>
          <p:nvPr/>
        </p:nvSpPr>
        <p:spPr>
          <a:xfrm>
            <a:off x="338328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61188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 descr="scann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285750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20624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• Barcode Scanner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IP65</a:t>
            </a:r>
            <a:endParaRPr lang="en-US" sz="5400" dirty="0"/>
          </a:p>
        </p:txBody>
      </p:sp>
      <p:sp>
        <p:nvSpPr>
          <p:cNvPr id="22" name="Text 18"/>
          <p:cNvSpPr txBox="1"/>
          <p:nvPr/>
        </p:nvSpPr>
        <p:spPr>
          <a:xfrm>
            <a:off x="361188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IP65 industrial casing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USB and wireless support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1D and 2D barcode ready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Fast reads on torn labels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Zero keyboard typing</a:t>
            </a:r>
            <a:endParaRPr lang="en-US" sz="1300" dirty="0"/>
          </a:p>
        </p:txBody>
      </p:sp>
      <p:sp>
        <p:nvSpPr>
          <p:cNvPr id="23" name="Spec card 3"/>
          <p:cNvSpPr/>
          <p:nvPr/>
        </p:nvSpPr>
        <p:spPr>
          <a:xfrm>
            <a:off x="617220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2" descr="cpu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85750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99516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• Station PC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40080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16GB</a:t>
            </a:r>
            <a:endParaRPr lang="en-US" sz="54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Dust-sealed fanless chassis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Quad-core edge processor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16GB RAM visual buffer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Fast local solid state drive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Auto 90-day clip storage</a:t>
            </a:r>
            <a:endParaRPr lang="en-US" sz="1300" dirty="0"/>
          </a:p>
        </p:txBody>
      </p:sp>
      <p:sp>
        <p:nvSpPr>
          <p:cNvPr id="29" name="Spec card 4"/>
          <p:cNvSpPr/>
          <p:nvPr/>
        </p:nvSpPr>
        <p:spPr>
          <a:xfrm>
            <a:off x="8961120" y="2514600"/>
            <a:ext cx="2633472" cy="370332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/>
          <p:cNvSpPr/>
          <p:nvPr/>
        </p:nvSpPr>
        <p:spPr>
          <a:xfrm>
            <a:off x="9189720" y="274320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3" descr="bel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285750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8408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• Bench Feedback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189720" y="33832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85dB</a:t>
            </a:r>
            <a:endParaRPr lang="en-US" sz="5400" dirty="0"/>
          </a:p>
        </p:txBody>
      </p:sp>
      <p:sp>
        <p:nvSpPr>
          <p:cNvPr id="34" name="Text 28"/>
          <p:cNvSpPr txBox="1"/>
          <p:nvPr/>
        </p:nvSpPr>
        <p:spPr>
          <a:xfrm>
            <a:off x="9189720" y="438912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Live on-screen indicator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Audible start/stop tones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Heard over warehouse noise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Desk-mounted finish card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50" dirty="0">
                <a:solidFill>
                  <a:schemeClr val="bg2"/>
                </a:solidFill>
              </a:rPr>
              <a:t>Zero worker ambiguity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Active phase dot"/>
          <p:cNvSpPr/>
          <p:nvPr/>
        </p:nvSpPr>
        <p:spPr>
          <a:xfrm>
            <a:off x="8178394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Financial Business Case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500" b="1"/>
              <a:t>Station Investment Pays Back in Under 90 Days by Reversing False Claims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Verified financial return across high-volume distribution centers without hardcoded assumptions.</a:t>
            </a:r>
          </a:p>
        </p:txBody>
      </p:sp>
      <p:sp>
        <p:nvSpPr>
          <p:cNvPr id="11" name="Savings hero card"/>
          <p:cNvSpPr/>
          <p:nvPr/>
        </p:nvSpPr>
        <p:spPr>
          <a:xfrm>
            <a:off x="594360" y="2514600"/>
            <a:ext cx="4480560" cy="3703320"/>
          </a:xfrm>
          <a:prstGeom prst="roundRect">
            <a:avLst>
              <a:gd name="adj" fmla="val 2469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6012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Payback Timeline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tx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&lt; 90 Days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Station investment typically recovered through reversed false claims within the first quarter of deployment.</a:t>
            </a:r>
            <a:endParaRPr lang="en-US" sz="1500" dirty="0"/>
          </a:p>
        </p:txBody>
      </p:sp>
      <p:sp>
        <p:nvSpPr>
          <p:cNvPr id="15" name="Stat card 1"/>
          <p:cNvSpPr/>
          <p:nvPr/>
        </p:nvSpPr>
        <p:spPr>
          <a:xfrm>
            <a:off x="5257800" y="2514600"/>
            <a:ext cx="3090672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48640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82%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 Win Rate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5387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Recovers 82% of contested claims with indisputable video proof.</a:t>
            </a:r>
            <a:endParaRPr lang="en-US" sz="1200" dirty="0"/>
          </a:p>
        </p:txBody>
      </p:sp>
      <p:sp>
        <p:nvSpPr>
          <p:cNvPr id="19" name="Stat card 2"/>
          <p:cNvSpPr/>
          <p:nvPr/>
        </p:nvSpPr>
        <p:spPr>
          <a:xfrm>
            <a:off x="8503920" y="2514600"/>
            <a:ext cx="3090672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73252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15x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Resolution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5387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Resolves claims in seconds instead of 28 minutes of manual scrubbing.</a:t>
            </a:r>
            <a:endParaRPr lang="en-US" sz="1200" dirty="0"/>
          </a:p>
        </p:txBody>
      </p:sp>
      <p:graphicFrame>
        <p:nvGraphicFramePr>
          <p:cNvPr id="23" name="Payb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4251960"/>
          <a:ext cx="6336792" cy="197510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0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Operational Value Driver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kern="0" spc="10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 Impact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False Shortage Claims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80%+ contested value recovered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CCTV Investigation Labor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90%+ footage hunting time saved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Courier Dispute Liability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Immediate reversal with video proof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Net Operational Impact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Positive cash-flow from Month 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Capital Payback Horizon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Full payback in 60 to 90 days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7" name="Active phase dot"/>
          <p:cNvSpPr/>
          <p:nvPr/>
        </p:nvSpPr>
        <p:spPr>
          <a:xfrm>
            <a:off x="9941357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Turnkey Deployment</a:t>
            </a:r>
            <a:endParaRPr lang="en-US" sz="3400" dirty="0"/>
          </a:p>
          <a:p>
            <a:pPr marL="0" indent="0" algn="l">
              <a:lnSpc>
                <a:spcPct val="92000"/>
              </a:lnSpc>
              <a:buNone/>
            </a:pPr>
            <a:r>
              <a:rPr sz="2500" b="1"/>
              <a:t>Full-Facility Deployment in Four Weeks with Zero Packing Line Downtime</a:t>
            </a:r>
            <a:endParaRPr lang="en-US" sz="34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8105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Turnkey implementation designed to fit seamlessly into active packing bench operations.</a:t>
            </a:r>
          </a:p>
        </p:txBody>
      </p:sp>
      <p:sp>
        <p:nvSpPr>
          <p:cNvPr id="11" name="Shape 9"/>
          <p:cNvSpPr/>
          <p:nvPr/>
        </p:nvSpPr>
        <p:spPr>
          <a:xfrm>
            <a:off x="196596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imeline node 1"/>
          <p:cNvSpPr/>
          <p:nvPr/>
        </p:nvSpPr>
        <p:spPr>
          <a:xfrm>
            <a:off x="59436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01</a:t>
            </a:r>
            <a:endParaRPr lang="en-US" sz="1200" dirty="0"/>
          </a:p>
        </p:txBody>
      </p:sp>
      <p:sp>
        <p:nvSpPr>
          <p:cNvPr id="14" name="Week card 1"/>
          <p:cNvSpPr/>
          <p:nvPr/>
        </p:nvSpPr>
        <p:spPr>
          <a:xfrm>
            <a:off x="59436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Bench Audit &amp; Setup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Industrial camera bench mount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Handheld barcode integration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Field-of-view &amp; lighting tuning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Clean station power &amp; cabling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meline node 2"/>
          <p:cNvSpPr/>
          <p:nvPr/>
        </p:nvSpPr>
        <p:spPr>
          <a:xfrm>
            <a:off x="338328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70332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02</a:t>
            </a:r>
            <a:endParaRPr lang="en-US" sz="1200" dirty="0"/>
          </a:p>
        </p:txBody>
      </p:sp>
      <p:sp>
        <p:nvSpPr>
          <p:cNvPr id="21" name="Week card 2"/>
          <p:cNvSpPr/>
          <p:nvPr/>
        </p:nvSpPr>
        <p:spPr>
          <a:xfrm>
            <a:off x="338328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361188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Station Pilot Launch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Single packing bench activation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5s visual buffer validation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Worker zero-friction observation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90-day local clip storage check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2697480"/>
            <a:ext cx="13716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imeline node 3"/>
          <p:cNvSpPr/>
          <p:nvPr/>
        </p:nvSpPr>
        <p:spPr>
          <a:xfrm>
            <a:off x="617220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49224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03</a:t>
            </a:r>
            <a:endParaRPr lang="en-US" sz="1200" dirty="0"/>
          </a:p>
        </p:txBody>
      </p:sp>
      <p:sp>
        <p:nvSpPr>
          <p:cNvPr id="28" name="Week card 3"/>
          <p:cNvSpPr/>
          <p:nvPr/>
        </p:nvSpPr>
        <p:spPr>
          <a:xfrm>
            <a:off x="617220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Full Facility Expansion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Multi-station facility rollout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Central network storage backup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Claims team portal onboarding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Dispute workflow dry-run</a:t>
            </a:r>
            <a:endParaRPr lang="en-US" sz="1400" dirty="0"/>
          </a:p>
        </p:txBody>
      </p:sp>
      <p:sp>
        <p:nvSpPr>
          <p:cNvPr id="32" name="Timeline node 4"/>
          <p:cNvSpPr/>
          <p:nvPr/>
        </p:nvSpPr>
        <p:spPr>
          <a:xfrm>
            <a:off x="896112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9281160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04</a:t>
            </a:r>
            <a:endParaRPr lang="en-US" sz="1200" dirty="0"/>
          </a:p>
        </p:txBody>
      </p:sp>
      <p:sp>
        <p:nvSpPr>
          <p:cNvPr id="34" name="Week card 4"/>
          <p:cNvSpPr/>
          <p:nvPr/>
        </p:nvSpPr>
        <p:spPr>
          <a:xfrm>
            <a:off x="8961120" y="3017520"/>
            <a:ext cx="2633472" cy="31546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9189720" y="5349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accent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5400" dirty="0"/>
          </a:p>
        </p:txBody>
      </p:sp>
      <p:sp>
        <p:nvSpPr>
          <p:cNvPr id="36" name="Text 34"/>
          <p:cNvSpPr txBox="1"/>
          <p:nvPr/>
        </p:nvSpPr>
        <p:spPr>
          <a:xfrm>
            <a:off x="9189720" y="32004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WMS &amp; Courier Integration</a:t>
            </a:r>
            <a:endParaRPr lang="en-US" sz="21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02336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WMS barcode metadata linking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One-click courier video export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Executive ROI dashboard live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Full production sign-off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dot"/>
          <p:cNvSpPr/>
          <p:nvPr/>
        </p:nvSpPr>
        <p:spPr>
          <a:xfrm>
            <a:off x="594360" y="4572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4" name="Phase 01 PROBLEM"/>
          <p:cNvSpPr txBox="1"/>
          <p:nvPr/>
        </p:nvSpPr>
        <p:spPr>
          <a:xfrm>
            <a:off x="5365699" y="3840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Problem</a:t>
            </a:r>
            <a:endParaRPr lang="en-US" sz="1200" dirty="0"/>
          </a:p>
        </p:txBody>
      </p:sp>
      <p:sp>
        <p:nvSpPr>
          <p:cNvPr id="5" name="Phase 02 SOLUTION"/>
          <p:cNvSpPr txBox="1"/>
          <p:nvPr/>
        </p:nvSpPr>
        <p:spPr>
          <a:xfrm>
            <a:off x="6810451" y="384048"/>
            <a:ext cx="125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Solution</a:t>
            </a:r>
            <a:endParaRPr lang="en-US" sz="1200" dirty="0"/>
          </a:p>
        </p:txBody>
      </p:sp>
      <p:sp>
        <p:nvSpPr>
          <p:cNvPr id="6" name="Phase 03 OPERATIONS"/>
          <p:cNvSpPr txBox="1"/>
          <p:nvPr/>
        </p:nvSpPr>
        <p:spPr>
          <a:xfrm>
            <a:off x="8361274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Operations</a:t>
            </a:r>
            <a:endParaRPr lang="en-US" sz="1200" dirty="0"/>
          </a:p>
        </p:txBody>
      </p:sp>
      <p:sp>
        <p:nvSpPr>
          <p:cNvPr id="7" name="Active phase dot"/>
          <p:cNvSpPr/>
          <p:nvPr/>
        </p:nvSpPr>
        <p:spPr>
          <a:xfrm>
            <a:off x="9941357" y="4572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Phase 04 DEPLOYMENT"/>
          <p:cNvSpPr txBox="1"/>
          <p:nvPr/>
        </p:nvSpPr>
        <p:spPr>
          <a:xfrm>
            <a:off x="10124237" y="384048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Deployment</a:t>
            </a:r>
            <a:endParaRPr lang="en-US" sz="12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777240"/>
            <a:ext cx="11000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1400" b="1"/>
              <a:t>Next Steps &amp; Evaluation</a:t>
            </a:r>
            <a:endParaRPr lang="en-US" sz="3800" dirty="0"/>
          </a:p>
          <a:p>
            <a:pPr marL="0" indent="0" algn="l">
              <a:lnSpc>
                <a:spcPct val="92000"/>
              </a:lnSpc>
              <a:buNone/>
            </a:pPr>
            <a:r>
              <a:rPr sz="2600" b="1"/>
              <a:t>Deploy Provenance on a Live Packing Bench to Eliminate Dispute Losses</a:t>
            </a:r>
            <a:endParaRPr lang="en-US" sz="3800" dirty="0"/>
          </a:p>
        </p:txBody>
      </p:sp>
      <p:sp>
        <p:nvSpPr>
          <p:cNvPr id="10" name="Subtitle"/>
          <p:cNvSpPr txBox="1"/>
          <p:nvPr/>
        </p:nvSpPr>
        <p:spPr>
          <a:xfrm>
            <a:off x="594360" y="19659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Schedule a zero-risk 30-day pilot or inspect sample courier evidence exports.</a:t>
            </a:r>
          </a:p>
        </p:txBody>
      </p:sp>
      <p:sp>
        <p:nvSpPr>
          <p:cNvPr id="11" name="Action card 1"/>
          <p:cNvSpPr/>
          <p:nvPr/>
        </p:nvSpPr>
        <p:spPr>
          <a:xfrm>
            <a:off x="59436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pla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81178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15-Minute Bench Demo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Inspect the live 1080p camera view, automated barcode trigger, and instant dispute search on a live packing bench.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Schedule: Virtual or on-site walkthrough</a:t>
            </a:r>
            <a:endParaRPr lang="en-US" sz="1100" dirty="0"/>
          </a:p>
        </p:txBody>
      </p:sp>
      <p:sp>
        <p:nvSpPr>
          <p:cNvPr id="18" name="Action card 2"/>
          <p:cNvSpPr/>
          <p:nvPr/>
        </p:nvSpPr>
        <p:spPr>
          <a:xfrm>
            <a:off x="432054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4914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1" descr="targ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81178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435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4914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30-Day Single-Station Pilot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54914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Deploy Provenance on your highest-volume packaging line with full hardware support and zero IT infrastructure overhaul.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4914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Commitment: Zero-risk pilot evaluation</a:t>
            </a:r>
            <a:endParaRPr lang="en-US" sz="1100" dirty="0"/>
          </a:p>
        </p:txBody>
      </p:sp>
      <p:sp>
        <p:nvSpPr>
          <p:cNvPr id="25" name="Action card 3"/>
          <p:cNvSpPr/>
          <p:nvPr/>
        </p:nvSpPr>
        <p:spPr>
          <a:xfrm>
            <a:off x="8046720" y="2514600"/>
            <a:ext cx="3547872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275320" y="2697480"/>
            <a:ext cx="457200" cy="4572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2" descr="shie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0" y="2811780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696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03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275320" y="324612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Courier Evidence Review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38404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Inspect sample video exports and tamper-evident packaging clips ready for Delhivery, Bluedart, and marketplace portals.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8275320" y="452628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Deliverable: Complete sample evidence clip</a:t>
            </a:r>
            <a:endParaRPr lang="en-US" sz="1100" dirty="0"/>
          </a:p>
        </p:txBody>
      </p:sp>
      <p:sp>
        <p:nvSpPr>
          <p:cNvPr id="32" name="Call to action card"/>
          <p:cNvSpPr/>
          <p:nvPr/>
        </p:nvSpPr>
        <p:spPr>
          <a:xfrm>
            <a:off x="594360" y="5010912"/>
            <a:ext cx="11000232" cy="1353312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8"/>
          <p:cNvSpPr txBox="1"/>
          <p:nvPr/>
        </p:nvSpPr>
        <p:spPr>
          <a:xfrm>
            <a:off x="914400" y="5138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eliminate packing dispute write-offs?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914400" y="53766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Book a Live Packing Bench Walkthrough</a:t>
            </a:r>
            <a:endParaRPr lang="en-US" sz="26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5833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miltronics@rediffmail.com   •   +91 98209 32930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36" name="Miltronics Big 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166360"/>
            <a:ext cx="1051560" cy="1051560"/>
          </a:xfrm>
          <a:prstGeom prst="rect">
            <a:avLst/>
          </a:prstGeom>
        </p:spPr>
      </p:pic>
      <p:sp>
        <p:nvSpPr>
          <p:cNvPr id="37" name="Miltronics Big Name"/>
          <p:cNvSpPr txBox="1"/>
          <p:nvPr/>
        </p:nvSpPr>
        <p:spPr>
          <a:xfrm>
            <a:off x="9189720" y="5193792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MILTRONICS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PROVENANCE SUITE</a:t>
            </a:r>
          </a:p>
          <a:p>
            <a:pPr>
              <a:defRPr sz="950" b="0">
                <a:solidFill>
                  <a:srgbClr val="64748B"/>
                </a:solidFill>
              </a:defRPr>
            </a:pPr>
            <a:r>
              <a:t>Automated Bench Systems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venance Dark">
  <a:themeElements>
    <a:clrScheme name="Provenance Light">
      <a:dk1>
        <a:srgbClr val="17181A"/>
      </a:dk1>
      <a:lt1>
        <a:srgbClr val="17181A"/>
      </a:lt1>
      <a:dk2>
        <a:srgbClr val="FFFFFF"/>
      </a:dk2>
      <a:lt2>
        <a:srgbClr val="3F454C"/>
      </a:lt2>
      <a:accent1>
        <a:srgbClr val="059669"/>
      </a:accent1>
      <a:accent2>
        <a:srgbClr val="DC2626"/>
      </a:accent2>
      <a:accent3>
        <a:srgbClr val="64748B"/>
      </a:accent3>
      <a:accent4>
        <a:srgbClr val="C9CED2"/>
      </a:accent4>
      <a:accent5>
        <a:srgbClr val="F1F5F9"/>
      </a:accent5>
      <a:accent6>
        <a:srgbClr val="047857"/>
      </a:accent6>
      <a:hlink>
        <a:srgbClr val="059669"/>
      </a:hlink>
      <a:folHlink>
        <a:srgbClr val="64748B"/>
      </a:folHlink>
    </a:clrScheme>
    <a:fontScheme name="Provenance Dark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1857</Words>
  <Application>Microsoft Office PowerPoint</Application>
  <PresentationFormat>Widescreen</PresentationFormat>
  <Paragraphs>314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Segoe UI Light</vt:lpstr>
      <vt:lpstr>Provenance Dark</vt:lpstr>
      <vt:lpstr>Instant Video Proof for Every Outbound Parcel with Zero Worker Delay</vt:lpstr>
      <vt:lpstr>The High-Cost Reality Unverified Packing Forces Merchants to Forfeit 82% of Claims</vt:lpstr>
      <vt:lpstr>Operational Comparison Traditional CCTV Takes 28 Mins; Provenance Proves in Under 2 Seconds</vt:lpstr>
      <vt:lpstr>Automated Bench Verification Three Automated Subsystems Capture Proof with Zero Packing Delay</vt:lpstr>
      <vt:lpstr>Three-Step Packing Cycle Operators Follow a Simple 3-Step Routine Without Touching a Mouse</vt:lpstr>
      <vt:lpstr>Local-First Architecture Local-First Edge Architecture Runs 24/7 Without Cloud or Wi-Fi Dependencies</vt:lpstr>
      <vt:lpstr>Industrial Duty Rig Heavy-Duty Hardware Built for Continuous Warehouse Vibration and Noise</vt:lpstr>
      <vt:lpstr>Financial Business Case Station Investment Pays Back in Under 90 Days by Reversing False Claims</vt:lpstr>
      <vt:lpstr>Turnkey Deployment Full-Facility Deployment in Four Weeks with Zero Packing Line Downtime</vt:lpstr>
      <vt:lpstr>Next Steps &amp; Evaluation Deploy Provenance on a Live Packing Bench to Eliminate Dispute Losses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Provenance: Industrial CCTV Proof &amp; Packing Station</dc:title>
  <dc:subject>PptxGenJS Presentation</dc:subject>
  <dc:creator>PptxGenJS</dc:creator>
  <cp:lastModifiedBy>Sharvin Neve</cp:lastModifiedBy>
  <cp:revision>2</cp:revision>
  <dcterms:created xsi:type="dcterms:W3CDTF">2026-10-10T08:32:07Z</dcterms:created>
  <dcterms:modified xsi:type="dcterms:W3CDTF">2026-10-11T21:02:53Z</dcterms:modified>
</cp:coreProperties>
</file>