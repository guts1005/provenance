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24022556-7815-f856-61d1-860d706d2df3}">
          <p14:sldIdLst>
            <p14:sldId id="256"/>
          </p14:sldIdLst>
        </p14:section>
        <p14:section name="Problem" id="{cb4fd372-f909-1c14-c549-9d5483cf39b9}">
          <p14:sldIdLst>
            <p14:sldId id="257"/>
            <p14:sldId id="258"/>
          </p14:sldIdLst>
        </p14:section>
        <p14:section name="Solution" id="{fb0b204c-3549-0a5d-9f20-fcbb1ce8c189}">
          <p14:sldIdLst>
            <p14:sldId id="259"/>
            <p14:sldId id="260"/>
            <p14:sldId id="261"/>
          </p14:sldIdLst>
        </p14:section>
        <p14:section name="Operations" id="{261f91f5-3af4-41ef-6eeb-3368eb331b76}">
          <p14:sldIdLst>
            <p14:sldId id="262"/>
            <p14:sldId id="263"/>
          </p14:sldIdLst>
        </p14:section>
        <p14:section name="Deployment" id="{9870049a-710d-0966-ea74-9e92879bc9ea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GOAL (15-20s): Set the tone with absolute authority. Provenance turns ordinary packaging tables into tamper-proof forensic recording stations without slowing down warehouse packers.
DETAIL (kept off the slide): Trigger: sub-50ms keystroke burst detection with zero operator delay or screen interaction. Admissibility: cryptographic SHA-256 hash locked to NTP time and station hardware ID. Dispute win rate: direct dispute recovery on contested orders with immediate carrier sign-off.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GOAL (30-40s): Establish the core business pain point. Walk through the 4 failure stages. Highlight the asymmetry: the distributor has 100% of the financial burden but zero visual proof.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GOAL (30s): Highlight the contrast. Show how Provenance eliminates 28 minutes of manual NVR scrubbing and shifts dispute recovery from 18% to 82% with cryptographic proof.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GOAL (30-45s): Present the 3 pillars. Emphasize that packers never touch a keyboard or mouse. The rolling 5s circular buffer guarantees pre-scan packaging is captured.
DETAIL (kept off the slide). Subsystem 01: hardware-level keystroke parser under 50ms latency, runs entirely in the background without window focus, compatible with all 2D USB and Bluetooth scanners, zero disruption to high-speed packing flow. Subsystem 02: captures item pickup before the barcode scan occurs, seamlessly prepends buffer frames to the cut, high-throughput OpenCV RTSP memory engine, zero storage write wear during the standby ring. Subsystem 03: SHA-256 signature calculated at recording finish, station ID and millisecond timestamp stamped, local SQLite database gives instant sub-2s query, admissible in formal carrier and legal disputes.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GOAL (30s): Walk through the operator experience. Stress zero screen changes, audible and visual confirmation beeps, and how simple the workflow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GOAL (25-30s): Reassure technical buyers and warehouse IT. Emphasize local-first edge recording with zero external cloud dependencies for continuous capture.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GOAL (25-30s): Showcase industrial grade hardware. Rated for dust, high drops, and 24/7 continuous warehouse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GOAL (30s): Drive home the financial justification. Highlight the 82% win rate, 4.2x faster resolution, and $48,000 annual savings per 10 packaging benches.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GOAL (25s): Show low friction adoption. A structured 4-week rollout that integrates with existing bench layouts without warehouse downtime.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GOAL (20-30s): Call to action. Close with a frictionless offer: a 15-minute live bench demonstration or a 30-day pilot on their highest-volume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CONTENT-image-1.png"/><Relationship Id="rId2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CLOSE-image-1.png"/><Relationship Id="rId2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94360" y="777240"/>
            <a:ext cx="11000232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2000"/>
              </a:lnSpc>
              <a:buNone/>
              <a:defRPr lang="en-US" sz="3400" dirty="0">
                <a:solidFill>
                  <a:schemeClr val="bg1"/>
                </a:solidFill>
              </a:defRPr>
            </a:lvl1pPr>
          </a:lstStyle>
          <a:p>
            <a:pPr algn="l" indent="0" marL="0">
              <a:lnSpc>
                <a:spcPct val="92000"/>
              </a:lnSpc>
              <a:buNone/>
            </a:pPr>
            <a:endParaRPr lang="en-US" sz="3400" dirty="0"/>
          </a:p>
        </p:txBody>
      </p:sp>
      <p:sp>
        <p:nvSpPr>
          <p:cNvPr id="3" name="Text 0"/>
          <p:cNvSpPr txBox="1"/>
          <p:nvPr/>
        </p:nvSpPr>
        <p:spPr>
          <a:xfrm>
            <a:off x="59436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PROVENANCE STATION SUITE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11155680" y="64190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 10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A1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94360" y="777240"/>
            <a:ext cx="11000232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2000"/>
              </a:lnSpc>
              <a:buNone/>
              <a:defRPr lang="en-US" sz="3800" dirty="0">
                <a:solidFill>
                  <a:schemeClr val="bg1"/>
                </a:solidFill>
              </a:defRPr>
            </a:lvl1pPr>
          </a:lstStyle>
          <a:p>
            <a:pPr algn="l" indent="0" marL="0">
              <a:lnSpc>
                <a:spcPct val="92000"/>
              </a:lnSpc>
              <a:buNone/>
            </a:pPr>
            <a:endParaRPr lang="en-US" sz="3800" dirty="0"/>
          </a:p>
        </p:txBody>
      </p:sp>
      <p:sp>
        <p:nvSpPr>
          <p:cNvPr id="3" name="Text 0"/>
          <p:cNvSpPr txBox="1"/>
          <p:nvPr/>
        </p:nvSpPr>
        <p:spPr>
          <a:xfrm>
            <a:off x="59436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PROVENANCE STATION SUITE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11155680" y="64190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 10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A1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94360" y="1280160"/>
            <a:ext cx="658368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2000"/>
              </a:lnSpc>
              <a:buNone/>
              <a:defRPr lang="en-US" sz="5000" dirty="0">
                <a:solidFill>
                  <a:schemeClr val="bg1"/>
                </a:solidFill>
              </a:defRPr>
            </a:lvl1pPr>
          </a:lstStyle>
          <a:p>
            <a:pPr algn="l" indent="0" marL="0">
              <a:lnSpc>
                <a:spcPct val="92000"/>
              </a:lnSpc>
              <a:buNone/>
            </a:pPr>
            <a:endParaRPr lang="en-US" sz="50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A1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6696" y="8686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defRPr sz="1000" b="1">
                <a:solidFill>
                  <a:srgbClr val="10B981"/>
                </a:solidFill>
                <a:latin typeface="Consolas"/>
              </a:defRPr>
            </a:pPr>
            <a:r>
              <a:t>PROVENANCE   •   AUTOMATED PACKING SURVEILLANCE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94360" y="1280160"/>
            <a:ext cx="6400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Automated CCTV Evidence &amp;</a:t>
            </a:r>
            <a:endParaRPr lang="en-US" sz="5000" dirty="0"/>
          </a:p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Packing Station Verification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94360" y="384048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defRPr sz="1300">
                <a:solidFill>
                  <a:srgbClr val="9CA3AF"/>
                </a:solidFill>
                <a:latin typeface="Segoe UI"/>
              </a:defRPr>
            </a:pPr>
            <a:r>
              <a:t>Instant camera proof for every parcel leaving your facility. Records automatically from your existing barcode scan with zero worker delay.</a:t>
            </a:r>
            <a:endParaRPr lang="en-US" sz="1600" dirty="0"/>
          </a:p>
        </p:txBody>
      </p:sp>
      <p:sp>
        <p:nvSpPr>
          <p:cNvPr id="5" name="Stat card 1"/>
          <p:cNvSpPr/>
          <p:nvPr/>
        </p:nvSpPr>
        <p:spPr>
          <a:xfrm>
            <a:off x="594360" y="4937760"/>
            <a:ext cx="201168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95528" y="5047488"/>
            <a:ext cx="173736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  <a:defRPr sz="2600" b="1">
                <a:solidFill>
                  <a:srgbClr val="FFFFFF"/>
                </a:solidFill>
                <a:latin typeface="Segoe UI"/>
              </a:defRPr>
            </a:pPr>
            <a:r>
              <a:t>1080p FHD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795528" y="56692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defRPr sz="950" b="1">
                <a:solidFill>
                  <a:srgbClr val="10B981"/>
                </a:solidFill>
                <a:latin typeface="Consolas"/>
              </a:defRPr>
            </a:pPr>
            <a:r>
              <a:t>ADAPTIVE VISION</a:t>
            </a:r>
            <a:endParaRPr lang="en-US" sz="1000" dirty="0"/>
          </a:p>
        </p:txBody>
      </p:sp>
      <p:sp>
        <p:nvSpPr>
          <p:cNvPr id="8" name="Stat card 2"/>
          <p:cNvSpPr/>
          <p:nvPr/>
        </p:nvSpPr>
        <p:spPr>
          <a:xfrm>
            <a:off x="2788920" y="4937760"/>
            <a:ext cx="201168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2990088" y="504748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 sz="2600" b="1">
                <a:solidFill>
                  <a:srgbClr val="FFFFFF"/>
                </a:solidFill>
                <a:latin typeface="Segoe UI"/>
              </a:defRPr>
            </a:pPr>
            <a:r>
              <a:t>0 Clicks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2990088" y="56692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defRPr sz="950" b="1">
                <a:solidFill>
                  <a:srgbClr val="3B82F6"/>
                </a:solidFill>
                <a:latin typeface="Consolas"/>
              </a:defRPr>
            </a:pPr>
            <a:r>
              <a:t>ZERO WORKER FRICTION</a:t>
            </a:r>
            <a:endParaRPr lang="en-US" sz="1000" dirty="0"/>
          </a:p>
        </p:txBody>
      </p:sp>
      <p:sp>
        <p:nvSpPr>
          <p:cNvPr id="11" name="Stat card 3"/>
          <p:cNvSpPr/>
          <p:nvPr/>
        </p:nvSpPr>
        <p:spPr>
          <a:xfrm>
            <a:off x="4983480" y="4937760"/>
            <a:ext cx="201168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5184648" y="504748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 sz="2600" b="1">
                <a:solidFill>
                  <a:srgbClr val="10B981"/>
                </a:solidFill>
                <a:latin typeface="Segoe UI"/>
              </a:defRPr>
            </a:pPr>
            <a:r>
              <a:t>&lt; 2s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5184648" y="56692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defRPr sz="950" b="1">
                <a:solidFill>
                  <a:srgbClr val="10B981"/>
                </a:solidFill>
                <a:latin typeface="Consolas"/>
              </a:defRPr>
            </a:pPr>
            <a:r>
              <a:t>INSTANT EVIDENCE</a:t>
            </a:r>
            <a:endParaRPr lang="en-US" sz="1000" dirty="0"/>
          </a:p>
        </p:txBody>
      </p:sp>
      <p:sp>
        <p:nvSpPr>
          <p:cNvPr id="14" name="Rig status panel"/>
          <p:cNvSpPr/>
          <p:nvPr/>
        </p:nvSpPr>
        <p:spPr>
          <a:xfrm>
            <a:off x="7178040" y="868680"/>
            <a:ext cx="4416552" cy="5166360"/>
          </a:xfrm>
          <a:prstGeom prst="roundRect">
            <a:avLst>
              <a:gd name="adj" fmla="val 2070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15" name="Viewfinder"/>
          <p:cNvSpPr/>
          <p:nvPr/>
        </p:nvSpPr>
        <p:spPr>
          <a:xfrm>
            <a:off x="7406640" y="1097280"/>
            <a:ext cx="3959352" cy="233172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16" name="Bench surface"/>
          <p:cNvSpPr/>
          <p:nvPr/>
        </p:nvSpPr>
        <p:spPr>
          <a:xfrm>
            <a:off x="7589520" y="2560320"/>
            <a:ext cx="3593592" cy="685800"/>
          </a:xfrm>
          <a:prstGeom prst="rect">
            <a:avLst/>
          </a:prstGeom>
          <a:solidFill>
            <a:schemeClr val="accent5"/>
          </a:solidFill>
          <a:ln/>
        </p:spPr>
        <p:txBody>
          <a:bodyPr/>
          <a:p/>
        </p:txBody>
      </p:sp>
      <p:sp>
        <p:nvSpPr>
          <p:cNvPr id="17" name="Parcel"/>
          <p:cNvSpPr/>
          <p:nvPr/>
        </p:nvSpPr>
        <p:spPr>
          <a:xfrm>
            <a:off x="8778240" y="1874520"/>
            <a:ext cx="1371600" cy="86868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778240" y="2194560"/>
            <a:ext cx="137160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19" name="Scanner"/>
          <p:cNvSpPr/>
          <p:nvPr/>
        </p:nvSpPr>
        <p:spPr>
          <a:xfrm>
            <a:off x="10561320" y="2651760"/>
            <a:ext cx="502920" cy="320040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149840" y="2468880"/>
            <a:ext cx="411480" cy="27432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dash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516368" y="1207008"/>
            <a:ext cx="2743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7516368" y="1207008"/>
            <a:ext cx="0" cy="27432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0981944" y="1207008"/>
            <a:ext cx="2743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1256264" y="1207008"/>
            <a:ext cx="0" cy="27432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516368" y="3319272"/>
            <a:ext cx="2743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7516368" y="3044952"/>
            <a:ext cx="0" cy="27432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981944" y="3319272"/>
            <a:ext cx="2743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1256264" y="3044952"/>
            <a:ext cx="0" cy="27432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9" name="REC dot"/>
          <p:cNvSpPr/>
          <p:nvPr/>
        </p:nvSpPr>
        <p:spPr>
          <a:xfrm>
            <a:off x="7790688" y="1399032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7973568" y="134416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720072" y="134416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  <a:defRPr sz="1000">
                <a:solidFill>
                  <a:srgbClr val="9CA3AF"/>
                </a:solidFill>
                <a:latin typeface="Consolas"/>
              </a:defRPr>
            </a:pPr>
            <a:r>
              <a:t>1080p FHD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406640" y="37033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CAMERA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412480" y="370332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 sz="950">
                <a:solidFill>
                  <a:srgbClr val="FFFFFF"/>
                </a:solidFill>
                <a:latin typeface="Consolas"/>
              </a:defRPr>
            </a:pPr>
            <a:r>
              <a:t>1080p Full HD Industrial Sensor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406640" y="4087368"/>
            <a:ext cx="3959352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 txBox="1"/>
          <p:nvPr/>
        </p:nvSpPr>
        <p:spPr>
          <a:xfrm>
            <a:off x="7406640" y="4123944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 sz="950">
                <a:solidFill>
                  <a:srgbClr val="6B7280"/>
                </a:solidFill>
                <a:latin typeface="Consolas"/>
              </a:defRPr>
            </a:pPr>
            <a:r>
              <a:t>LIGHTING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8412480" y="4123944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 sz="950">
                <a:solidFill>
                  <a:srgbClr val="9CA3AF"/>
                </a:solidFill>
                <a:latin typeface="Consolas"/>
              </a:defRPr>
            </a:pPr>
            <a:r>
              <a:t>Dynamic anti-glare optimization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406640" y="4507992"/>
            <a:ext cx="3959352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 txBox="1"/>
          <p:nvPr/>
        </p:nvSpPr>
        <p:spPr>
          <a:xfrm>
            <a:off x="7406640" y="454456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 sz="950">
                <a:solidFill>
                  <a:srgbClr val="6B7280"/>
                </a:solidFill>
                <a:latin typeface="Consolas"/>
              </a:defRPr>
            </a:pPr>
            <a:r>
              <a:t>PRE-ROLL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412480" y="4544568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 sz="950">
                <a:solidFill>
                  <a:srgbClr val="9CA3AF"/>
                </a:solidFill>
                <a:latin typeface="Consolas"/>
              </a:defRPr>
            </a:pPr>
            <a:r>
              <a:t>5-second continuous buffer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406640" y="4928616"/>
            <a:ext cx="3959352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 txBox="1"/>
          <p:nvPr/>
        </p:nvSpPr>
        <p:spPr>
          <a:xfrm>
            <a:off x="7406640" y="4965192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 sz="950">
                <a:solidFill>
                  <a:srgbClr val="6B7280"/>
                </a:solidFill>
                <a:latin typeface="Consolas"/>
              </a:defRPr>
            </a:pPr>
            <a:r>
              <a:t>TRIGGER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8412480" y="496519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 sz="950">
                <a:solidFill>
                  <a:srgbClr val="9CA3AF"/>
                </a:solidFill>
                <a:latin typeface="Consolas"/>
              </a:defRPr>
            </a:pPr>
            <a:r>
              <a:t>Standard barcode scan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06640" y="5349240"/>
            <a:ext cx="3959352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 txBox="1"/>
          <p:nvPr/>
        </p:nvSpPr>
        <p:spPr>
          <a:xfrm>
            <a:off x="7406640" y="538581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 sz="950">
                <a:solidFill>
                  <a:srgbClr val="6B7280"/>
                </a:solidFill>
                <a:latin typeface="Consolas"/>
              </a:defRPr>
            </a:pPr>
            <a:r>
              <a:t>STORAGE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8412480" y="5385816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 sz="950">
                <a:solidFill>
                  <a:srgbClr val="10B981"/>
                </a:solidFill>
                <a:latin typeface="Consolas"/>
              </a:defRPr>
            </a:pPr>
            <a:r>
              <a:t>Secure local station database</a:t>
            </a:r>
            <a:endParaRPr lang="en-US" sz="1100" dirty="0"/>
          </a:p>
        </p:txBody>
      </p:sp>
      <p:pic>
        <p:nvPicPr>
          <p:cNvPr id="46" name="Picture 45" descr="provenanc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830000"/>
            <a:ext cx="292608" cy="292608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 dot"/>
          <p:cNvSpPr/>
          <p:nvPr/>
        </p:nvSpPr>
        <p:spPr>
          <a:xfrm>
            <a:off x="594360" y="45720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384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PROVENANCE</a:t>
            </a:r>
            <a:endParaRPr lang="en-US" sz="1200" dirty="0"/>
          </a:p>
        </p:txBody>
      </p:sp>
      <p:sp>
        <p:nvSpPr>
          <p:cNvPr id="4" name="Active phase dot"/>
          <p:cNvSpPr/>
          <p:nvPr/>
        </p:nvSpPr>
        <p:spPr>
          <a:xfrm>
            <a:off x="5182819" y="457200"/>
            <a:ext cx="91440" cy="91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Phase 01 PROBLEM"/>
          <p:cNvSpPr txBox="1"/>
          <p:nvPr/>
        </p:nvSpPr>
        <p:spPr>
          <a:xfrm>
            <a:off x="5365699" y="384048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PROBLEM</a:t>
            </a:r>
            <a:endParaRPr lang="en-US" sz="1200" dirty="0"/>
          </a:p>
        </p:txBody>
      </p:sp>
      <p:sp>
        <p:nvSpPr>
          <p:cNvPr id="6" name="Phase 02 SOLUTION"/>
          <p:cNvSpPr txBox="1"/>
          <p:nvPr/>
        </p:nvSpPr>
        <p:spPr>
          <a:xfrm>
            <a:off x="6810451" y="384048"/>
            <a:ext cx="12582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SOLUTION</a:t>
            </a:r>
            <a:endParaRPr lang="en-US" sz="1200" dirty="0"/>
          </a:p>
        </p:txBody>
      </p:sp>
      <p:sp>
        <p:nvSpPr>
          <p:cNvPr id="7" name="Phase 03 OPERATIONS"/>
          <p:cNvSpPr txBox="1"/>
          <p:nvPr/>
        </p:nvSpPr>
        <p:spPr>
          <a:xfrm>
            <a:off x="8361274" y="384048"/>
            <a:ext cx="1470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OPERATIONS</a:t>
            </a:r>
            <a:endParaRPr lang="en-US" sz="1200" dirty="0"/>
          </a:p>
        </p:txBody>
      </p:sp>
      <p:sp>
        <p:nvSpPr>
          <p:cNvPr id="8" name="Phase 04 DEPLOYMENT"/>
          <p:cNvSpPr txBox="1"/>
          <p:nvPr/>
        </p:nvSpPr>
        <p:spPr>
          <a:xfrm>
            <a:off x="10124237" y="384048"/>
            <a:ext cx="1470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DEPLOYMENT</a:t>
            </a:r>
            <a:endParaRPr lang="en-US" sz="1200" dirty="0"/>
          </a:p>
        </p:txBody>
      </p:sp>
      <p:sp>
        <p:nvSpPr>
          <p:cNvPr id="9" name="Text 0"/>
          <p:cNvSpPr/>
          <p:nvPr>
            <p:ph idx="100" type="title" hasCustomPrompt="1"/>
          </p:nvPr>
        </p:nvSpPr>
        <p:spPr>
          <a:xfrm>
            <a:off x="594360" y="777240"/>
            <a:ext cx="11000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dirty="0">
                <a:solidFill>
                  <a:schemeClr val="bg2"/>
                </a:solidFill>
              </a:rPr>
              <a:t>The High-Cost Reality</a:t>
            </a:r>
            <a:endParaRPr lang="en-US" sz="34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3400" dirty="0">
                <a:solidFill>
                  <a:schemeClr val="bg1"/>
                </a:solidFill>
              </a:rPr>
              <a:t>Unverifiable Packing Disputes</a:t>
            </a:r>
            <a:endParaRPr lang="en-US" sz="3400" dirty="0"/>
          </a:p>
        </p:txBody>
      </p:sp>
      <p:sp>
        <p:nvSpPr>
          <p:cNvPr id="10" name="Subtitle"/>
          <p:cNvSpPr txBox="1"/>
          <p:nvPr/>
        </p:nvSpPr>
        <p:spPr>
          <a:xfrm>
            <a:off x="594360" y="1810512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When customer shortage or damage claims arise, generic ceiling cameras offer zero proof, forcing merchants to absorb 100% of the loss.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248716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chemeClr val="accent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Rs 3,500 to Rs 15,000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05409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 LOSS PER CONTESTED ORDER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89320" y="2542032"/>
            <a:ext cx="0" cy="73152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09360" y="248716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chemeClr val="accent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82%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305409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 UNRECORDED CLAIMS FORFEITED BY MERCHANTS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" y="3749040"/>
            <a:ext cx="836676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17" name="Timeline node 1"/>
          <p:cNvSpPr/>
          <p:nvPr/>
        </p:nvSpPr>
        <p:spPr>
          <a:xfrm>
            <a:off x="594360" y="3666744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4360" y="3977640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01 • DAY 0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4279392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Blind Dispatch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46634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Operator scans shipping label and packs order. 20-foot ceiling camera is blocked by worker shoulders.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5577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Zero visual record of package contents at seal time.</a:t>
            </a:r>
            <a:endParaRPr lang="en-US" sz="1300" dirty="0"/>
          </a:p>
        </p:txBody>
      </p:sp>
      <p:sp>
        <p:nvSpPr>
          <p:cNvPr id="22" name="Timeline node 2"/>
          <p:cNvSpPr/>
          <p:nvPr/>
        </p:nvSpPr>
        <p:spPr>
          <a:xfrm>
            <a:off x="3383280" y="3666744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383280" y="3977640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02 • DAY 5 TO 10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383280" y="4279392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Customer Dispute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3383280" y="46634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Buyer claims an empty box or missing item. Marketplace or payment gateway freezes funds automatically.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383280" y="5577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Merchant carries 100% burden of proof.</a:t>
            </a:r>
            <a:endParaRPr lang="en-US" sz="1300" dirty="0"/>
          </a:p>
        </p:txBody>
      </p:sp>
      <p:sp>
        <p:nvSpPr>
          <p:cNvPr id="27" name="Timeline node 3"/>
          <p:cNvSpPr/>
          <p:nvPr/>
        </p:nvSpPr>
        <p:spPr>
          <a:xfrm>
            <a:off x="6172200" y="3666744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172200" y="3977640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03 • DAY 12 TO 18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172200" y="4279392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The CCTV Scrub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6172200" y="46634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Staff spends 28 minutes searching generic ceiling footage. Tape glare and blur make contents unidentifiable.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172200" y="5577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Courier rejects blurry wide-angle clip.</a:t>
            </a:r>
            <a:endParaRPr lang="en-US" sz="1300" dirty="0"/>
          </a:p>
        </p:txBody>
      </p:sp>
      <p:sp>
        <p:nvSpPr>
          <p:cNvPr id="32" name="Timeline node 4"/>
          <p:cNvSpPr/>
          <p:nvPr/>
        </p:nvSpPr>
        <p:spPr>
          <a:xfrm>
            <a:off x="8961120" y="3666744"/>
            <a:ext cx="164592" cy="16459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961120" y="3977640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04 • DAY 21+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961120" y="4279392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Claim Forfeited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8961120" y="46634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Courier dispute window closes. Merchant absorbs replacement merchandise, reverse logistics, and penalty charges.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8961120" y="5577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100% of order value permanently written off.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A1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pan dir="r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 dot"/>
          <p:cNvSpPr/>
          <p:nvPr/>
        </p:nvSpPr>
        <p:spPr>
          <a:xfrm>
            <a:off x="594360" y="45720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384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PROVENANCE</a:t>
            </a:r>
            <a:endParaRPr lang="en-US" sz="1200" dirty="0"/>
          </a:p>
        </p:txBody>
      </p:sp>
      <p:sp>
        <p:nvSpPr>
          <p:cNvPr id="4" name="Active phase dot"/>
          <p:cNvSpPr/>
          <p:nvPr/>
        </p:nvSpPr>
        <p:spPr>
          <a:xfrm>
            <a:off x="5182819" y="457200"/>
            <a:ext cx="91440" cy="91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Phase 01 PROBLEM"/>
          <p:cNvSpPr txBox="1"/>
          <p:nvPr/>
        </p:nvSpPr>
        <p:spPr>
          <a:xfrm>
            <a:off x="5365699" y="384048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PROBLEM</a:t>
            </a:r>
            <a:endParaRPr lang="en-US" sz="1200" dirty="0"/>
          </a:p>
        </p:txBody>
      </p:sp>
      <p:sp>
        <p:nvSpPr>
          <p:cNvPr id="6" name="Phase 02 SOLUTION"/>
          <p:cNvSpPr txBox="1"/>
          <p:nvPr/>
        </p:nvSpPr>
        <p:spPr>
          <a:xfrm>
            <a:off x="6810451" y="384048"/>
            <a:ext cx="12582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SOLUTION</a:t>
            </a:r>
            <a:endParaRPr lang="en-US" sz="1200" dirty="0"/>
          </a:p>
        </p:txBody>
      </p:sp>
      <p:sp>
        <p:nvSpPr>
          <p:cNvPr id="7" name="Phase 03 OPERATIONS"/>
          <p:cNvSpPr txBox="1"/>
          <p:nvPr/>
        </p:nvSpPr>
        <p:spPr>
          <a:xfrm>
            <a:off x="8361274" y="384048"/>
            <a:ext cx="1470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OPERATIONS</a:t>
            </a:r>
            <a:endParaRPr lang="en-US" sz="1200" dirty="0"/>
          </a:p>
        </p:txBody>
      </p:sp>
      <p:sp>
        <p:nvSpPr>
          <p:cNvPr id="8" name="Phase 04 DEPLOYMENT"/>
          <p:cNvSpPr txBox="1"/>
          <p:nvPr/>
        </p:nvSpPr>
        <p:spPr>
          <a:xfrm>
            <a:off x="10124237" y="384048"/>
            <a:ext cx="1470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DEPLOYMENT</a:t>
            </a:r>
            <a:endParaRPr lang="en-US" sz="1200" dirty="0"/>
          </a:p>
        </p:txBody>
      </p:sp>
      <p:sp>
        <p:nvSpPr>
          <p:cNvPr id="9" name="Text 0"/>
          <p:cNvSpPr/>
          <p:nvPr>
            <p:ph idx="100" type="title" hasCustomPrompt="1"/>
          </p:nvPr>
        </p:nvSpPr>
        <p:spPr>
          <a:xfrm>
            <a:off x="594360" y="777240"/>
            <a:ext cx="11000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dirty="0">
                <a:solidFill>
                  <a:schemeClr val="bg2"/>
                </a:solidFill>
              </a:rPr>
              <a:t>Operational Shift</a:t>
            </a:r>
            <a:endParaRPr lang="en-US" sz="34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3400" dirty="0">
                <a:solidFill>
                  <a:schemeClr val="bg1"/>
                </a:solidFill>
              </a:rPr>
              <a:t>Traditional CCTV vs Provenance Packing Proof</a:t>
            </a:r>
            <a:endParaRPr lang="en-US" sz="3400" dirty="0"/>
          </a:p>
        </p:txBody>
      </p:sp>
      <p:sp>
        <p:nvSpPr>
          <p:cNvPr id="10" name="Subtitle"/>
          <p:cNvSpPr txBox="1"/>
          <p:nvPr/>
        </p:nvSpPr>
        <p:spPr>
          <a:xfrm>
            <a:off x="594360" y="1810512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Replacing hours of manual footage hunting with instant, indisputable packaging video for every parcel.</a:t>
            </a:r>
            <a:endParaRPr lang="en-US" sz="1500" dirty="0"/>
          </a:p>
        </p:txBody>
      </p:sp>
      <p:sp>
        <p:nvSpPr>
          <p:cNvPr id="11" name="Before card"/>
          <p:cNvSpPr/>
          <p:nvPr/>
        </p:nvSpPr>
        <p:spPr>
          <a:xfrm>
            <a:off x="594360" y="2395728"/>
            <a:ext cx="5394960" cy="3547872"/>
          </a:xfrm>
          <a:prstGeom prst="roundRect">
            <a:avLst>
              <a:gd name="adj" fmla="val 2577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2" name="After card"/>
          <p:cNvSpPr/>
          <p:nvPr/>
        </p:nvSpPr>
        <p:spPr>
          <a:xfrm>
            <a:off x="6199632" y="2395728"/>
            <a:ext cx="5394960" cy="3547872"/>
          </a:xfrm>
          <a:prstGeom prst="roundRect">
            <a:avLst>
              <a:gd name="adj" fmla="val 2577"/>
            </a:avLst>
          </a:prstGeom>
          <a:solidFill>
            <a:schemeClr val="bg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26243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BEFORE: TRADITIONAL CCTV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19672" y="26243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AFTER: PROVENANCE STATION PROOF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2944368"/>
            <a:ext cx="475488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19672" y="2944368"/>
            <a:ext cx="4754880" cy="0"/>
          </a:xfrm>
          <a:prstGeom prst="line">
            <a:avLst/>
          </a:prstGeom>
          <a:noFill/>
          <a:ln w="9525">
            <a:solidFill>
              <a:srgbClr val="D0D5D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3017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 TIME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3200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28 min manual scrub across multiple cameras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519672" y="3017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5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 TIME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519672" y="3200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Sub-2s instant query by barcode number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14400" y="3456432"/>
            <a:ext cx="475488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19672" y="3456432"/>
            <a:ext cx="4754880" cy="0"/>
          </a:xfrm>
          <a:prstGeom prst="line">
            <a:avLst/>
          </a:prstGeom>
          <a:noFill/>
          <a:ln w="9525">
            <a:solidFill>
              <a:srgbClr val="D0D5D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35295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 ACCURACY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37124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Guesswork based on estimated dispatch time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519672" y="35295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5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 ACCURACY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519672" y="37124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Exact clip automatically tagged to tracking ID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14400" y="3968496"/>
            <a:ext cx="475488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19672" y="3968496"/>
            <a:ext cx="4754880" cy="0"/>
          </a:xfrm>
          <a:prstGeom prst="line">
            <a:avLst/>
          </a:prstGeom>
          <a:noFill/>
          <a:ln w="9525">
            <a:solidFill>
              <a:srgbClr val="D0D5D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14400" y="40416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PACKING COVERAGE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914400" y="42245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Misses pre-scan packing steps before label scan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519672" y="40416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5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PACKING COVERAGE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519672" y="42245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5-second automatic buffer captures item placement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914400" y="4480560"/>
            <a:ext cx="475488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19672" y="4480560"/>
            <a:ext cx="4754880" cy="0"/>
          </a:xfrm>
          <a:prstGeom prst="line">
            <a:avLst/>
          </a:prstGeom>
          <a:noFill/>
          <a:ln w="9525">
            <a:solidFill>
              <a:srgbClr val="D0D5D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14400" y="455371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 CLARITY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914400" y="47365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Blurry wide-angle ceiling view with tape glare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519672" y="455371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5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 CLARITY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519672" y="47365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1080p Full HD bench view with anti-glare tuning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914400" y="4992624"/>
            <a:ext cx="475488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19672" y="4992624"/>
            <a:ext cx="4754880" cy="0"/>
          </a:xfrm>
          <a:prstGeom prst="line">
            <a:avLst/>
          </a:prstGeom>
          <a:noFill/>
          <a:ln w="9525">
            <a:solidFill>
              <a:srgbClr val="D0D5D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14400" y="506577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DISPUTE WIN RATE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6519672" y="506577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5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DISPUTE WIN RATE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914400" y="520293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chemeClr val="accent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18%</a:t>
            </a:r>
            <a:endParaRPr lang="en-US" sz="3600" dirty="0"/>
          </a:p>
        </p:txBody>
      </p:sp>
      <p:sp>
        <p:nvSpPr>
          <p:cNvPr id="44" name="Text 42"/>
          <p:cNvSpPr txBox="1"/>
          <p:nvPr/>
        </p:nvSpPr>
        <p:spPr>
          <a:xfrm>
            <a:off x="2331720" y="520293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average claim recovery rate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6519672" y="520293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chemeClr val="accent6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82%</a:t>
            </a:r>
            <a:endParaRPr lang="en-US" sz="3600" dirty="0"/>
          </a:p>
        </p:txBody>
      </p:sp>
      <p:sp>
        <p:nvSpPr>
          <p:cNvPr id="46" name="Text 44"/>
          <p:cNvSpPr txBox="1"/>
          <p:nvPr/>
        </p:nvSpPr>
        <p:spPr>
          <a:xfrm>
            <a:off x="7936992" y="520293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verified dispute win rate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594360" y="6053328"/>
            <a:ext cx="11000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Verified packaging video retrieved in seconds reverses false shortage claims with immediate courier sign-off.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A1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spli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 dot"/>
          <p:cNvSpPr/>
          <p:nvPr/>
        </p:nvSpPr>
        <p:spPr>
          <a:xfrm>
            <a:off x="594360" y="45720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384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PROVENANCE</a:t>
            </a:r>
            <a:endParaRPr lang="en-US" sz="1200" dirty="0"/>
          </a:p>
        </p:txBody>
      </p:sp>
      <p:sp>
        <p:nvSpPr>
          <p:cNvPr id="4" name="Phase 01 PROBLEM"/>
          <p:cNvSpPr txBox="1"/>
          <p:nvPr/>
        </p:nvSpPr>
        <p:spPr>
          <a:xfrm>
            <a:off x="5365699" y="384048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PROBLEM</a:t>
            </a:r>
            <a:endParaRPr lang="en-US" sz="1200" dirty="0"/>
          </a:p>
        </p:txBody>
      </p:sp>
      <p:sp>
        <p:nvSpPr>
          <p:cNvPr id="5" name="Active phase dot"/>
          <p:cNvSpPr/>
          <p:nvPr/>
        </p:nvSpPr>
        <p:spPr>
          <a:xfrm>
            <a:off x="6627571" y="457200"/>
            <a:ext cx="91440" cy="91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Phase 02 SOLUTION"/>
          <p:cNvSpPr txBox="1"/>
          <p:nvPr/>
        </p:nvSpPr>
        <p:spPr>
          <a:xfrm>
            <a:off x="6810451" y="384048"/>
            <a:ext cx="12582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SOLUTION</a:t>
            </a:r>
            <a:endParaRPr lang="en-US" sz="1200" dirty="0"/>
          </a:p>
        </p:txBody>
      </p:sp>
      <p:sp>
        <p:nvSpPr>
          <p:cNvPr id="7" name="Phase 03 OPERATIONS"/>
          <p:cNvSpPr txBox="1"/>
          <p:nvPr/>
        </p:nvSpPr>
        <p:spPr>
          <a:xfrm>
            <a:off x="8361274" y="384048"/>
            <a:ext cx="1470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OPERATIONS</a:t>
            </a:r>
            <a:endParaRPr lang="en-US" sz="1200" dirty="0"/>
          </a:p>
        </p:txBody>
      </p:sp>
      <p:sp>
        <p:nvSpPr>
          <p:cNvPr id="8" name="Phase 04 DEPLOYMENT"/>
          <p:cNvSpPr txBox="1"/>
          <p:nvPr/>
        </p:nvSpPr>
        <p:spPr>
          <a:xfrm>
            <a:off x="10124237" y="384048"/>
            <a:ext cx="1470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DEPLOYMENT</a:t>
            </a:r>
            <a:endParaRPr lang="en-US" sz="1200" dirty="0"/>
          </a:p>
        </p:txBody>
      </p:sp>
      <p:sp>
        <p:nvSpPr>
          <p:cNvPr id="9" name="Text 0"/>
          <p:cNvSpPr/>
          <p:nvPr>
            <p:ph idx="100" type="title" hasCustomPrompt="1"/>
          </p:nvPr>
        </p:nvSpPr>
        <p:spPr>
          <a:xfrm>
            <a:off x="594360" y="777240"/>
            <a:ext cx="11000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dirty="0">
                <a:solidFill>
                  <a:schemeClr val="bg2"/>
                </a:solidFill>
              </a:rPr>
              <a:t>The Solution</a:t>
            </a:r>
            <a:endParaRPr lang="en-US" sz="34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3400" dirty="0">
                <a:solidFill>
                  <a:schemeClr val="bg1"/>
                </a:solidFill>
              </a:rPr>
              <a:t>Automated Packing Bench Verification</a:t>
            </a:r>
            <a:endParaRPr lang="en-US" sz="3400" dirty="0"/>
          </a:p>
        </p:txBody>
      </p:sp>
      <p:sp>
        <p:nvSpPr>
          <p:cNvPr id="10" name="Subtitle"/>
          <p:cNvSpPr txBox="1"/>
          <p:nvPr/>
        </p:nvSpPr>
        <p:spPr>
          <a:xfrm>
            <a:off x="594360" y="1810512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Zero-friction station software and high-definition video capture designed specifically for fast-paced warehouse benches.</a:t>
            </a:r>
            <a:endParaRPr lang="en-US" sz="1500" dirty="0"/>
          </a:p>
        </p:txBody>
      </p:sp>
      <p:sp>
        <p:nvSpPr>
          <p:cNvPr id="11" name="Subsystem band 1"/>
          <p:cNvSpPr/>
          <p:nvPr/>
        </p:nvSpPr>
        <p:spPr>
          <a:xfrm>
            <a:off x="594360" y="2514600"/>
            <a:ext cx="11000232" cy="1170432"/>
          </a:xfrm>
          <a:prstGeom prst="roundRect">
            <a:avLst>
              <a:gd name="adj" fmla="val 7813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2825496"/>
            <a:ext cx="548640" cy="548640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13" name="Image 0" descr="zap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962656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691640" y="273405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chemeClr val="bg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 Clicks</a:t>
            </a:r>
            <a:endParaRPr lang="en-US" sz="3600" dirty="0"/>
          </a:p>
        </p:txBody>
      </p:sp>
      <p:sp>
        <p:nvSpPr>
          <p:cNvPr id="15" name="Text 12"/>
          <p:cNvSpPr txBox="1"/>
          <p:nvPr/>
        </p:nvSpPr>
        <p:spPr>
          <a:xfrm>
            <a:off x="1691640" y="330098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 WORKER FRICTION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4434840" y="262432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SUBSYSTEM 01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434840" y="2825496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Instant 0-Click Barcode Trigger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4434840" y="31546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bg2"/>
                </a:solidFill>
              </a:rPr>
              <a:t>Seamlessly intercepts barcode scans from existing USB or wireless handheld scanners. Triggers recording with zero mouse clicks and zero operator slowdown.</a:t>
            </a:r>
            <a:endParaRPr lang="en-US" sz="1350" dirty="0"/>
          </a:p>
        </p:txBody>
      </p:sp>
      <p:sp>
        <p:nvSpPr>
          <p:cNvPr id="19" name="Subsystem band 2"/>
          <p:cNvSpPr/>
          <p:nvPr/>
        </p:nvSpPr>
        <p:spPr>
          <a:xfrm>
            <a:off x="594360" y="3776472"/>
            <a:ext cx="11000232" cy="1170432"/>
          </a:xfrm>
          <a:prstGeom prst="roundRect">
            <a:avLst>
              <a:gd name="adj" fmla="val 7813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14400" y="4087368"/>
            <a:ext cx="548640" cy="548640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21" name="Image 1" descr="clock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4224528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691640" y="399592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chemeClr val="bg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5 Sec</a:t>
            </a:r>
            <a:endParaRPr lang="en-US" sz="3600" dirty="0"/>
          </a:p>
        </p:txBody>
      </p:sp>
      <p:sp>
        <p:nvSpPr>
          <p:cNvPr id="23" name="Text 19"/>
          <p:cNvSpPr txBox="1"/>
          <p:nvPr/>
        </p:nvSpPr>
        <p:spPr>
          <a:xfrm>
            <a:off x="1691640" y="456285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CONTINUOUS BUFFER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4434840" y="3886200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SUBSYSTEM 02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4434840" y="4087368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5-Second Continuous Visual Buffer</a:t>
            </a:r>
            <a:endParaRPr lang="en-US" sz="1900" dirty="0"/>
          </a:p>
        </p:txBody>
      </p:sp>
      <p:sp>
        <p:nvSpPr>
          <p:cNvPr id="26" name="Text 22"/>
          <p:cNvSpPr txBox="1"/>
          <p:nvPr/>
        </p:nvSpPr>
        <p:spPr>
          <a:xfrm>
            <a:off x="4434840" y="441655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bg2"/>
                </a:solidFill>
              </a:rPr>
              <a:t>Maintains a rolling visual buffer so the clip captures the moments before the scan, preserving complete footage of item placement and box sealing.</a:t>
            </a:r>
            <a:endParaRPr lang="en-US" sz="1350" dirty="0"/>
          </a:p>
        </p:txBody>
      </p:sp>
      <p:sp>
        <p:nvSpPr>
          <p:cNvPr id="27" name="Subsystem band 3"/>
          <p:cNvSpPr/>
          <p:nvPr/>
        </p:nvSpPr>
        <p:spPr>
          <a:xfrm>
            <a:off x="594360" y="5038344"/>
            <a:ext cx="11000232" cy="1170432"/>
          </a:xfrm>
          <a:prstGeom prst="roundRect">
            <a:avLst>
              <a:gd name="adj" fmla="val 7813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914400" y="5349240"/>
            <a:ext cx="548640" cy="548640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29" name="Image 2" descr="lock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5486400"/>
            <a:ext cx="274320" cy="274320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1691640" y="5257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chemeClr val="bg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1080p</a:t>
            </a:r>
            <a:endParaRPr lang="en-US" sz="3600" dirty="0"/>
          </a:p>
        </p:txBody>
      </p:sp>
      <p:sp>
        <p:nvSpPr>
          <p:cNvPr id="31" name="Text 26"/>
          <p:cNvSpPr txBox="1"/>
          <p:nvPr/>
        </p:nvSpPr>
        <p:spPr>
          <a:xfrm>
            <a:off x="1691640" y="582472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DYNAMIC ADAPTIVE VISION</a:t>
            </a:r>
            <a:endParaRPr lang="en-US" sz="1000" dirty="0"/>
          </a:p>
        </p:txBody>
      </p:sp>
      <p:sp>
        <p:nvSpPr>
          <p:cNvPr id="32" name="Text 27"/>
          <p:cNvSpPr txBox="1"/>
          <p:nvPr/>
        </p:nvSpPr>
        <p:spPr>
          <a:xfrm>
            <a:off x="4434840" y="5148072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SUBSYSTEM 03</a:t>
            </a:r>
            <a:endParaRPr lang="en-US" sz="1100" dirty="0"/>
          </a:p>
        </p:txBody>
      </p:sp>
      <p:sp>
        <p:nvSpPr>
          <p:cNvPr id="33" name="Text 28"/>
          <p:cNvSpPr txBox="1"/>
          <p:nvPr/>
        </p:nvSpPr>
        <p:spPr>
          <a:xfrm>
            <a:off x="4434840" y="5349240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1080p Industrial Camera with Lighting Tuning</a:t>
            </a:r>
            <a:endParaRPr lang="en-US" sz="1900" dirty="0"/>
          </a:p>
        </p:txBody>
      </p:sp>
      <p:sp>
        <p:nvSpPr>
          <p:cNvPr id="34" name="Text 29"/>
          <p:cNvSpPr txBox="1"/>
          <p:nvPr/>
        </p:nvSpPr>
        <p:spPr>
          <a:xfrm>
            <a:off x="4434840" y="5678424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bg2"/>
                </a:solidFill>
              </a:rPr>
              <a:t>High-definition bench camera automatically adjusts exposure and contrast to eliminate tape glare and maintain sharp package clarity in any warehouse lighting.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A1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14:reveal dir="r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 dot"/>
          <p:cNvSpPr/>
          <p:nvPr/>
        </p:nvSpPr>
        <p:spPr>
          <a:xfrm>
            <a:off x="594360" y="45720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384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PROVENANCE</a:t>
            </a:r>
            <a:endParaRPr lang="en-US" sz="1200" dirty="0"/>
          </a:p>
        </p:txBody>
      </p:sp>
      <p:sp>
        <p:nvSpPr>
          <p:cNvPr id="4" name="Phase 01 PROBLEM"/>
          <p:cNvSpPr txBox="1"/>
          <p:nvPr/>
        </p:nvSpPr>
        <p:spPr>
          <a:xfrm>
            <a:off x="5365699" y="384048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PROBLEM</a:t>
            </a:r>
            <a:endParaRPr lang="en-US" sz="1200" dirty="0"/>
          </a:p>
        </p:txBody>
      </p:sp>
      <p:sp>
        <p:nvSpPr>
          <p:cNvPr id="5" name="Active phase dot"/>
          <p:cNvSpPr/>
          <p:nvPr/>
        </p:nvSpPr>
        <p:spPr>
          <a:xfrm>
            <a:off x="6627571" y="457200"/>
            <a:ext cx="91440" cy="91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Phase 02 SOLUTION"/>
          <p:cNvSpPr txBox="1"/>
          <p:nvPr/>
        </p:nvSpPr>
        <p:spPr>
          <a:xfrm>
            <a:off x="6810451" y="384048"/>
            <a:ext cx="12582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SOLUTION</a:t>
            </a:r>
            <a:endParaRPr lang="en-US" sz="1200" dirty="0"/>
          </a:p>
        </p:txBody>
      </p:sp>
      <p:sp>
        <p:nvSpPr>
          <p:cNvPr id="7" name="Phase 03 OPERATIONS"/>
          <p:cNvSpPr txBox="1"/>
          <p:nvPr/>
        </p:nvSpPr>
        <p:spPr>
          <a:xfrm>
            <a:off x="8361274" y="384048"/>
            <a:ext cx="1470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OPERATIONS</a:t>
            </a:r>
            <a:endParaRPr lang="en-US" sz="1200" dirty="0"/>
          </a:p>
        </p:txBody>
      </p:sp>
      <p:sp>
        <p:nvSpPr>
          <p:cNvPr id="8" name="Phase 04 DEPLOYMENT"/>
          <p:cNvSpPr txBox="1"/>
          <p:nvPr/>
        </p:nvSpPr>
        <p:spPr>
          <a:xfrm>
            <a:off x="10124237" y="384048"/>
            <a:ext cx="1470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DEPLOYMENT</a:t>
            </a:r>
            <a:endParaRPr lang="en-US" sz="1200" dirty="0"/>
          </a:p>
        </p:txBody>
      </p:sp>
      <p:sp>
        <p:nvSpPr>
          <p:cNvPr id="9" name="Text 0"/>
          <p:cNvSpPr/>
          <p:nvPr>
            <p:ph idx="100" type="title" hasCustomPrompt="1"/>
          </p:nvPr>
        </p:nvSpPr>
        <p:spPr>
          <a:xfrm>
            <a:off x="594360" y="777240"/>
            <a:ext cx="11000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dirty="0">
                <a:solidFill>
                  <a:schemeClr val="bg2"/>
                </a:solidFill>
              </a:rPr>
              <a:t>Operator Bench Flow</a:t>
            </a:r>
            <a:endParaRPr lang="en-US" sz="34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3400" dirty="0">
                <a:solidFill>
                  <a:schemeClr val="bg1"/>
                </a:solidFill>
              </a:rPr>
              <a:t>Three-Step Zero-Click Cycle</a:t>
            </a:r>
            <a:endParaRPr lang="en-US" sz="3400" dirty="0"/>
          </a:p>
        </p:txBody>
      </p:sp>
      <p:sp>
        <p:nvSpPr>
          <p:cNvPr id="10" name="Subtitle"/>
          <p:cNvSpPr txBox="1"/>
          <p:nvPr/>
        </p:nvSpPr>
        <p:spPr>
          <a:xfrm>
            <a:off x="594360" y="1810512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Operators never touch a mouse or switch applications. All actions trigger via physical barcodes.</a:t>
            </a:r>
            <a:endParaRPr lang="en-US" sz="1500" dirty="0"/>
          </a:p>
        </p:txBody>
      </p:sp>
      <p:sp>
        <p:nvSpPr>
          <p:cNvPr id="11" name="Step card 1"/>
          <p:cNvSpPr/>
          <p:nvPr/>
        </p:nvSpPr>
        <p:spPr>
          <a:xfrm>
            <a:off x="594360" y="2514600"/>
            <a:ext cx="3383280" cy="2103120"/>
          </a:xfrm>
          <a:prstGeom prst="roundRect">
            <a:avLst>
              <a:gd name="adj" fmla="val 4348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679192"/>
            <a:ext cx="457200" cy="457200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13" name="Image 0" descr="scanner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793492"/>
            <a:ext cx="228600" cy="2286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417320" y="26791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01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320954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Scan Barcode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353872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Operator scans shipping label with handheld scanner. System triggers automatically with 5s pre-roll buffer.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4160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0.2s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2423160" y="4160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</a:t>
            </a:r>
            <a:endParaRPr lang="en-US" sz="1000" dirty="0"/>
          </a:p>
        </p:txBody>
      </p:sp>
      <p:sp>
        <p:nvSpPr>
          <p:cNvPr id="19" name="Flow chevron 1"/>
          <p:cNvSpPr/>
          <p:nvPr/>
        </p:nvSpPr>
        <p:spPr>
          <a:xfrm>
            <a:off x="4107942" y="3465576"/>
            <a:ext cx="164592" cy="201168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20" name="Step card 2"/>
          <p:cNvSpPr/>
          <p:nvPr/>
        </p:nvSpPr>
        <p:spPr>
          <a:xfrm>
            <a:off x="4402836" y="2514600"/>
            <a:ext cx="3383280" cy="2103120"/>
          </a:xfrm>
          <a:prstGeom prst="roundRect">
            <a:avLst>
              <a:gd name="adj" fmla="val 4348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631436" y="2679192"/>
            <a:ext cx="457200" cy="457200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22" name="Image 1" descr="packag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736" y="2793492"/>
            <a:ext cx="228600" cy="22860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5225796" y="26791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02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4631436" y="320954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Pack &amp; Seal Parcel</a:t>
            </a:r>
            <a:endParaRPr lang="en-US" sz="1800" dirty="0"/>
          </a:p>
        </p:txBody>
      </p:sp>
      <p:sp>
        <p:nvSpPr>
          <p:cNvPr id="25" name="Text 21"/>
          <p:cNvSpPr txBox="1"/>
          <p:nvPr/>
        </p:nvSpPr>
        <p:spPr>
          <a:xfrm>
            <a:off x="4631436" y="353872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Bench camera records in 1080p Full HD while worker packs. Visual on-screen indicator confirms active recording.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4631436" y="4160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NATURAL</a:t>
            </a:r>
            <a:endParaRPr lang="en-US" sz="2400" dirty="0"/>
          </a:p>
        </p:txBody>
      </p:sp>
      <p:sp>
        <p:nvSpPr>
          <p:cNvPr id="27" name="Text 23"/>
          <p:cNvSpPr txBox="1"/>
          <p:nvPr/>
        </p:nvSpPr>
        <p:spPr>
          <a:xfrm>
            <a:off x="6231636" y="4160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</a:t>
            </a:r>
            <a:endParaRPr lang="en-US" sz="1000" dirty="0"/>
          </a:p>
        </p:txBody>
      </p:sp>
      <p:sp>
        <p:nvSpPr>
          <p:cNvPr id="28" name="Flow chevron 2"/>
          <p:cNvSpPr/>
          <p:nvPr/>
        </p:nvSpPr>
        <p:spPr>
          <a:xfrm>
            <a:off x="7916418" y="3465576"/>
            <a:ext cx="164592" cy="201168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29" name="Step card 3"/>
          <p:cNvSpPr/>
          <p:nvPr/>
        </p:nvSpPr>
        <p:spPr>
          <a:xfrm>
            <a:off x="8211312" y="2514600"/>
            <a:ext cx="3383280" cy="2103120"/>
          </a:xfrm>
          <a:prstGeom prst="roundRect">
            <a:avLst>
              <a:gd name="adj" fmla="val 4348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439912" y="2679192"/>
            <a:ext cx="457200" cy="457200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31" name="Image 2" descr="check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4212" y="2793492"/>
            <a:ext cx="228600" cy="228600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9034272" y="26791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03</a:t>
            </a:r>
            <a:endParaRPr lang="en-US" sz="1100" dirty="0"/>
          </a:p>
        </p:txBody>
      </p:sp>
      <p:sp>
        <p:nvSpPr>
          <p:cNvPr id="33" name="Text 28"/>
          <p:cNvSpPr txBox="1"/>
          <p:nvPr/>
        </p:nvSpPr>
        <p:spPr>
          <a:xfrm>
            <a:off x="8439912" y="320954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Scan Finish Placard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8439912" y="353872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Operator scans physical desk finish placard. Recording finalizes, saves, and indexes instantly by tracking barcode.</a:t>
            </a:r>
            <a:endParaRPr lang="en-US" sz="1200" dirty="0"/>
          </a:p>
        </p:txBody>
      </p:sp>
      <p:sp>
        <p:nvSpPr>
          <p:cNvPr id="35" name="Text 30"/>
          <p:cNvSpPr txBox="1"/>
          <p:nvPr/>
        </p:nvSpPr>
        <p:spPr>
          <a:xfrm>
            <a:off x="8439912" y="4160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0.1s</a:t>
            </a:r>
            <a:endParaRPr lang="en-US" sz="2400" dirty="0"/>
          </a:p>
        </p:txBody>
      </p:sp>
      <p:sp>
        <p:nvSpPr>
          <p:cNvPr id="36" name="Text 31"/>
          <p:cNvSpPr txBox="1"/>
          <p:nvPr/>
        </p:nvSpPr>
        <p:spPr>
          <a:xfrm>
            <a:off x="10040112" y="4160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</a:t>
            </a:r>
            <a:endParaRPr lang="en-US" sz="1000" dirty="0"/>
          </a:p>
        </p:txBody>
      </p:sp>
      <p:pic>
        <p:nvPicPr>
          <p:cNvPr id="37" name="Image 3" descr="Bench finish placard with a Code 128 barcode and a QR code, both labeled FINIS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937760"/>
            <a:ext cx="3383280" cy="1311763"/>
          </a:xfrm>
          <a:prstGeom prst="rect">
            <a:avLst/>
          </a:prstGeom>
        </p:spPr>
      </p:pic>
      <p:sp>
        <p:nvSpPr>
          <p:cNvPr id="38" name="Shape 32"/>
          <p:cNvSpPr/>
          <p:nvPr/>
        </p:nvSpPr>
        <p:spPr>
          <a:xfrm>
            <a:off x="502920" y="4846320"/>
            <a:ext cx="2286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502920" y="4846320"/>
            <a:ext cx="0" cy="22860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3840480" y="4846320"/>
            <a:ext cx="2286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4069080" y="4846320"/>
            <a:ext cx="0" cy="22860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502920" y="6340963"/>
            <a:ext cx="2286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502920" y="6112363"/>
            <a:ext cx="0" cy="22860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3840480" y="6340963"/>
            <a:ext cx="2286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4069080" y="6112363"/>
            <a:ext cx="0" cy="22860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46" name="Text 40"/>
          <p:cNvSpPr txBox="1"/>
          <p:nvPr/>
        </p:nvSpPr>
        <p:spPr>
          <a:xfrm>
            <a:off x="4434840" y="493776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BENCH FINISH PLACARD • DURABLE DESK MOUNT</a:t>
            </a:r>
            <a:endParaRPr lang="en-US" sz="1100" dirty="0"/>
          </a:p>
        </p:txBody>
      </p:sp>
      <p:sp>
        <p:nvSpPr>
          <p:cNvPr id="47" name="Text 41"/>
          <p:cNvSpPr txBox="1"/>
          <p:nvPr/>
        </p:nvSpPr>
        <p:spPr>
          <a:xfrm>
            <a:off x="4434840" y="5239512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 durable barcode placard sits on the packing table within easy reach. One quick scan finalizes the recording and readies the station for the next order.</a:t>
            </a:r>
            <a:endParaRPr lang="en-US" sz="1600" dirty="0"/>
          </a:p>
        </p:txBody>
      </p:sp>
      <p:sp>
        <p:nvSpPr>
          <p:cNvPr id="48" name="Text 42"/>
          <p:cNvSpPr txBox="1"/>
          <p:nvPr/>
        </p:nvSpPr>
        <p:spPr>
          <a:xfrm>
            <a:off x="4434840" y="59436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MOUSE. NO KEYBOARD. NO WINDOW SWITCHING.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A1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push dir="r"/>
      </p:transition>
    </mc:Choice>
    <mc:Fallback>
      <p:transition spd="med">
        <p:push dir="r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 dot"/>
          <p:cNvSpPr/>
          <p:nvPr/>
        </p:nvSpPr>
        <p:spPr>
          <a:xfrm>
            <a:off x="594360" y="45720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384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PROVENANCE</a:t>
            </a:r>
            <a:endParaRPr lang="en-US" sz="1200" dirty="0"/>
          </a:p>
        </p:txBody>
      </p:sp>
      <p:sp>
        <p:nvSpPr>
          <p:cNvPr id="4" name="Phase 01 PROBLEM"/>
          <p:cNvSpPr txBox="1"/>
          <p:nvPr/>
        </p:nvSpPr>
        <p:spPr>
          <a:xfrm>
            <a:off x="5365699" y="384048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PROBLEM</a:t>
            </a:r>
            <a:endParaRPr lang="en-US" sz="1200" dirty="0"/>
          </a:p>
        </p:txBody>
      </p:sp>
      <p:sp>
        <p:nvSpPr>
          <p:cNvPr id="5" name="Active phase dot"/>
          <p:cNvSpPr/>
          <p:nvPr/>
        </p:nvSpPr>
        <p:spPr>
          <a:xfrm>
            <a:off x="6627571" y="457200"/>
            <a:ext cx="91440" cy="91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Phase 02 SOLUTION"/>
          <p:cNvSpPr txBox="1"/>
          <p:nvPr/>
        </p:nvSpPr>
        <p:spPr>
          <a:xfrm>
            <a:off x="6810451" y="384048"/>
            <a:ext cx="12582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SOLUTION</a:t>
            </a:r>
            <a:endParaRPr lang="en-US" sz="1200" dirty="0"/>
          </a:p>
        </p:txBody>
      </p:sp>
      <p:sp>
        <p:nvSpPr>
          <p:cNvPr id="7" name="Phase 03 OPERATIONS"/>
          <p:cNvSpPr txBox="1"/>
          <p:nvPr/>
        </p:nvSpPr>
        <p:spPr>
          <a:xfrm>
            <a:off x="8361274" y="384048"/>
            <a:ext cx="1470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OPERATIONS</a:t>
            </a:r>
            <a:endParaRPr lang="en-US" sz="1200" dirty="0"/>
          </a:p>
        </p:txBody>
      </p:sp>
      <p:sp>
        <p:nvSpPr>
          <p:cNvPr id="8" name="Phase 04 DEPLOYMENT"/>
          <p:cNvSpPr txBox="1"/>
          <p:nvPr/>
        </p:nvSpPr>
        <p:spPr>
          <a:xfrm>
            <a:off x="10124237" y="384048"/>
            <a:ext cx="1470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DEPLOYMENT</a:t>
            </a:r>
            <a:endParaRPr lang="en-US" sz="1200" dirty="0"/>
          </a:p>
        </p:txBody>
      </p:sp>
      <p:sp>
        <p:nvSpPr>
          <p:cNvPr id="9" name="Text 0"/>
          <p:cNvSpPr/>
          <p:nvPr>
            <p:ph idx="100" type="title" hasCustomPrompt="1"/>
          </p:nvPr>
        </p:nvSpPr>
        <p:spPr>
          <a:xfrm>
            <a:off x="594360" y="777240"/>
            <a:ext cx="11000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dirty="0">
                <a:solidFill>
                  <a:schemeClr val="bg2"/>
                </a:solidFill>
              </a:rPr>
              <a:t>Technical Architecture</a:t>
            </a:r>
            <a:endParaRPr lang="en-US" sz="34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3400" dirty="0">
                <a:solidFill>
                  <a:schemeClr val="bg1"/>
                </a:solidFill>
              </a:rPr>
              <a:t>Reliable Local-First Architecture</a:t>
            </a:r>
            <a:endParaRPr lang="en-US" sz="3400" dirty="0"/>
          </a:p>
        </p:txBody>
      </p:sp>
      <p:sp>
        <p:nvSpPr>
          <p:cNvPr id="10" name="Subtitle"/>
          <p:cNvSpPr txBox="1"/>
          <p:nvPr/>
        </p:nvSpPr>
        <p:spPr>
          <a:xfrm>
            <a:off x="594360" y="1810512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Engineered to operate uninterrupted on local hardware, immune to warehouse Wi-Fi drops.</a:t>
            </a:r>
            <a:endParaRPr lang="en-US" sz="1500" dirty="0"/>
          </a:p>
        </p:txBody>
      </p:sp>
      <p:sp>
        <p:nvSpPr>
          <p:cNvPr id="11" name="Tier slab 3"/>
          <p:cNvSpPr/>
          <p:nvPr/>
        </p:nvSpPr>
        <p:spPr>
          <a:xfrm>
            <a:off x="594360" y="2514600"/>
            <a:ext cx="310896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770632"/>
            <a:ext cx="493776" cy="493776"/>
          </a:xfrm>
          <a:prstGeom prst="ellipse">
            <a:avLst/>
          </a:prstGeom>
          <a:solidFill>
            <a:schemeClr val="tx1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13" name="Image 0" descr="search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2894076"/>
            <a:ext cx="246888" cy="246888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554480" y="27614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TIER 03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3063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CLAIMS PORTAL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148840" y="3520440"/>
            <a:ext cx="0" cy="18288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023360" y="248716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Dispute &amp; Claims Portal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4023360" y="2843784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Instant barcode search by AWB or order ID. Generates a compact MP4 video proof clip ready for one-click submission to courier and marketplace dispute portals.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9326880" y="251460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Sub-2s</a:t>
            </a:r>
            <a:endParaRPr lang="en-US" sz="3000" dirty="0"/>
          </a:p>
        </p:txBody>
      </p:sp>
      <p:sp>
        <p:nvSpPr>
          <p:cNvPr id="20" name="Text 17"/>
          <p:cNvSpPr txBox="1"/>
          <p:nvPr/>
        </p:nvSpPr>
        <p:spPr>
          <a:xfrm>
            <a:off x="9326880" y="3108960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BARCODE SEARCH</a:t>
            </a:r>
            <a:endParaRPr lang="en-US" sz="1000" dirty="0"/>
          </a:p>
        </p:txBody>
      </p:sp>
      <p:sp>
        <p:nvSpPr>
          <p:cNvPr id="21" name="Tier slab 2"/>
          <p:cNvSpPr/>
          <p:nvPr/>
        </p:nvSpPr>
        <p:spPr>
          <a:xfrm>
            <a:off x="594360" y="3703320"/>
            <a:ext cx="3108960" cy="1005840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68680" y="3959352"/>
            <a:ext cx="493776" cy="493776"/>
          </a:xfrm>
          <a:prstGeom prst="ellipse">
            <a:avLst/>
          </a:prstGeom>
          <a:solidFill>
            <a:schemeClr val="tx1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23" name="Image 1" descr="cpu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" y="4082796"/>
            <a:ext cx="246888" cy="246888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1554480" y="39502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TIER 02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1554480" y="42519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 ENGINE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2148840" y="4709160"/>
            <a:ext cx="0" cy="18288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4023360" y="367588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Station Edge Engine</a:t>
            </a:r>
            <a:endParaRPr lang="en-US" sz="1900" dirty="0"/>
          </a:p>
        </p:txBody>
      </p:sp>
      <p:sp>
        <p:nvSpPr>
          <p:cNvPr id="28" name="Text 24"/>
          <p:cNvSpPr txBox="1"/>
          <p:nvPr/>
        </p:nvSpPr>
        <p:spPr>
          <a:xfrm>
            <a:off x="4023360" y="4032504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Local-first background service that records, buffers, and indexes video locally on the bench PC. Runs 24/7 with zero dependency on warehouse cloud or network uptime.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9326880" y="370332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100%</a:t>
            </a:r>
            <a:endParaRPr lang="en-US" sz="3000" dirty="0"/>
          </a:p>
        </p:txBody>
      </p:sp>
      <p:sp>
        <p:nvSpPr>
          <p:cNvPr id="30" name="Text 26"/>
          <p:cNvSpPr txBox="1"/>
          <p:nvPr/>
        </p:nvSpPr>
        <p:spPr>
          <a:xfrm>
            <a:off x="9326880" y="4297680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OFFLINE RESILIENT</a:t>
            </a:r>
            <a:endParaRPr lang="en-US" sz="1000" dirty="0"/>
          </a:p>
        </p:txBody>
      </p:sp>
      <p:sp>
        <p:nvSpPr>
          <p:cNvPr id="31" name="Tier slab 1"/>
          <p:cNvSpPr/>
          <p:nvPr/>
        </p:nvSpPr>
        <p:spPr>
          <a:xfrm>
            <a:off x="594360" y="4892040"/>
            <a:ext cx="3108960" cy="1005840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868680" y="5148072"/>
            <a:ext cx="493776" cy="493776"/>
          </a:xfrm>
          <a:prstGeom prst="ellipse">
            <a:avLst/>
          </a:prstGeom>
          <a:solidFill>
            <a:schemeClr val="tx1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33" name="Image 2" descr="camera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" y="5271516"/>
            <a:ext cx="246888" cy="246888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1554480" y="51389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TIER 01</a:t>
            </a:r>
            <a:endParaRPr lang="en-US" sz="1300" dirty="0"/>
          </a:p>
        </p:txBody>
      </p:sp>
      <p:sp>
        <p:nvSpPr>
          <p:cNvPr id="35" name="Text 30"/>
          <p:cNvSpPr txBox="1"/>
          <p:nvPr/>
        </p:nvSpPr>
        <p:spPr>
          <a:xfrm>
            <a:off x="1554480" y="54406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BENCH RIG</a:t>
            </a:r>
            <a:endParaRPr lang="en-US" sz="1000" dirty="0"/>
          </a:p>
        </p:txBody>
      </p:sp>
      <p:sp>
        <p:nvSpPr>
          <p:cNvPr id="36" name="Text 31"/>
          <p:cNvSpPr txBox="1"/>
          <p:nvPr/>
        </p:nvSpPr>
        <p:spPr>
          <a:xfrm>
            <a:off x="4023360" y="486460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Hardware Bench Rig</a:t>
            </a:r>
            <a:endParaRPr lang="en-US" sz="1900" dirty="0"/>
          </a:p>
        </p:txBody>
      </p:sp>
      <p:sp>
        <p:nvSpPr>
          <p:cNvPr id="37" name="Text 32"/>
          <p:cNvSpPr txBox="1"/>
          <p:nvPr/>
        </p:nvSpPr>
        <p:spPr>
          <a:xfrm>
            <a:off x="4023360" y="5221224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Industrial 1080p camera with dynamic lighting tuning, existing handheld barcode scanner, and clear audio-visual packing confirmation.</a:t>
            </a:r>
            <a:endParaRPr lang="en-US" sz="1300" dirty="0"/>
          </a:p>
        </p:txBody>
      </p:sp>
      <p:sp>
        <p:nvSpPr>
          <p:cNvPr id="38" name="Text 33"/>
          <p:cNvSpPr txBox="1"/>
          <p:nvPr/>
        </p:nvSpPr>
        <p:spPr>
          <a:xfrm>
            <a:off x="9326880" y="489204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1080p</a:t>
            </a:r>
            <a:endParaRPr lang="en-US" sz="3000" dirty="0"/>
          </a:p>
        </p:txBody>
      </p:sp>
      <p:sp>
        <p:nvSpPr>
          <p:cNvPr id="39" name="Text 34"/>
          <p:cNvSpPr txBox="1"/>
          <p:nvPr/>
        </p:nvSpPr>
        <p:spPr>
          <a:xfrm>
            <a:off x="9326880" y="5486400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BENCH OPTIMIZED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A1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push dir="u"/>
      </p:transition>
    </mc:Choice>
    <mc:Fallback>
      <p:transition spd="slow">
        <p:push dir="u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 dot"/>
          <p:cNvSpPr/>
          <p:nvPr/>
        </p:nvSpPr>
        <p:spPr>
          <a:xfrm>
            <a:off x="594360" y="45720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384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PROVENANCE</a:t>
            </a:r>
            <a:endParaRPr lang="en-US" sz="1200" dirty="0"/>
          </a:p>
        </p:txBody>
      </p:sp>
      <p:sp>
        <p:nvSpPr>
          <p:cNvPr id="4" name="Phase 01 PROBLEM"/>
          <p:cNvSpPr txBox="1"/>
          <p:nvPr/>
        </p:nvSpPr>
        <p:spPr>
          <a:xfrm>
            <a:off x="5365699" y="384048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PROBLEM</a:t>
            </a:r>
            <a:endParaRPr lang="en-US" sz="1200" dirty="0"/>
          </a:p>
        </p:txBody>
      </p:sp>
      <p:sp>
        <p:nvSpPr>
          <p:cNvPr id="5" name="Phase 02 SOLUTION"/>
          <p:cNvSpPr txBox="1"/>
          <p:nvPr/>
        </p:nvSpPr>
        <p:spPr>
          <a:xfrm>
            <a:off x="6810451" y="384048"/>
            <a:ext cx="12582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SOLUTION</a:t>
            </a:r>
            <a:endParaRPr lang="en-US" sz="1200" dirty="0"/>
          </a:p>
        </p:txBody>
      </p:sp>
      <p:sp>
        <p:nvSpPr>
          <p:cNvPr id="6" name="Active phase dot"/>
          <p:cNvSpPr/>
          <p:nvPr/>
        </p:nvSpPr>
        <p:spPr>
          <a:xfrm>
            <a:off x="8178394" y="457200"/>
            <a:ext cx="91440" cy="91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hase 03 OPERATIONS"/>
          <p:cNvSpPr txBox="1"/>
          <p:nvPr/>
        </p:nvSpPr>
        <p:spPr>
          <a:xfrm>
            <a:off x="8361274" y="384048"/>
            <a:ext cx="1470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OPERATIONS</a:t>
            </a:r>
            <a:endParaRPr lang="en-US" sz="1200" dirty="0"/>
          </a:p>
        </p:txBody>
      </p:sp>
      <p:sp>
        <p:nvSpPr>
          <p:cNvPr id="8" name="Phase 04 DEPLOYMENT"/>
          <p:cNvSpPr txBox="1"/>
          <p:nvPr/>
        </p:nvSpPr>
        <p:spPr>
          <a:xfrm>
            <a:off x="10124237" y="384048"/>
            <a:ext cx="1470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DEPLOYMENT</a:t>
            </a:r>
            <a:endParaRPr lang="en-US" sz="1200" dirty="0"/>
          </a:p>
        </p:txBody>
      </p:sp>
      <p:sp>
        <p:nvSpPr>
          <p:cNvPr id="9" name="Text 0"/>
          <p:cNvSpPr/>
          <p:nvPr>
            <p:ph idx="100" type="title" hasCustomPrompt="1"/>
          </p:nvPr>
        </p:nvSpPr>
        <p:spPr>
          <a:xfrm>
            <a:off x="594360" y="777240"/>
            <a:ext cx="11000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dirty="0">
                <a:solidFill>
                  <a:schemeClr val="bg2"/>
                </a:solidFill>
              </a:rPr>
              <a:t>Hardware Specifications</a:t>
            </a:r>
            <a:endParaRPr lang="en-US" sz="34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3400" dirty="0">
                <a:solidFill>
                  <a:schemeClr val="bg1"/>
                </a:solidFill>
              </a:rPr>
              <a:t>Engineered for Industrial Duty</a:t>
            </a:r>
            <a:endParaRPr lang="en-US" sz="3400" dirty="0"/>
          </a:p>
        </p:txBody>
      </p:sp>
      <p:sp>
        <p:nvSpPr>
          <p:cNvPr id="10" name="Subtitle"/>
          <p:cNvSpPr txBox="1"/>
          <p:nvPr/>
        </p:nvSpPr>
        <p:spPr>
          <a:xfrm>
            <a:off x="594360" y="1810512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Rigid industrial components rated for dust, continuous vibration, and 24/7 warehouse operations.</a:t>
            </a:r>
            <a:endParaRPr lang="en-US" sz="1500" dirty="0"/>
          </a:p>
        </p:txBody>
      </p:sp>
      <p:sp>
        <p:nvSpPr>
          <p:cNvPr id="11" name="Spec card 1"/>
          <p:cNvSpPr/>
          <p:nvPr/>
        </p:nvSpPr>
        <p:spPr>
          <a:xfrm>
            <a:off x="594360" y="2514600"/>
            <a:ext cx="2633472" cy="3703320"/>
          </a:xfrm>
          <a:prstGeom prst="roundRect">
            <a:avLst>
              <a:gd name="adj" fmla="val 3472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743200"/>
            <a:ext cx="457200" cy="457200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13" name="Image 0" descr="camera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857500"/>
            <a:ext cx="228600" cy="2286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417320" y="27432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• BENCH CAMERA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3383280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chemeClr val="bg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1080p</a:t>
            </a:r>
            <a:endParaRPr lang="en-US" sz="54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4389120"/>
            <a:ext cx="226771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50" dirty="0">
                <a:solidFill>
                  <a:schemeClr val="bg2"/>
                </a:solidFill>
              </a:rPr>
              <a:t>1080p Full HD industrial sensor</a:t>
            </a:r>
            <a:endParaRPr lang="en-US" sz="1300" dirty="0"/>
          </a:p>
          <a:p>
            <a:pPr indent="0" mar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50" dirty="0">
                <a:solidFill>
                  <a:schemeClr val="bg2"/>
                </a:solidFill>
              </a:rPr>
              <a:t>Adaptive lighting tuning</a:t>
            </a:r>
            <a:endParaRPr lang="en-US" sz="1300" dirty="0"/>
          </a:p>
          <a:p>
            <a:pPr indent="0" mar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50" dirty="0">
                <a:solidFill>
                  <a:schemeClr val="bg2"/>
                </a:solidFill>
              </a:rPr>
              <a:t>Anti-glare tape optimization</a:t>
            </a:r>
            <a:endParaRPr lang="en-US" sz="1300" dirty="0"/>
          </a:p>
          <a:p>
            <a:pPr indent="0" mar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50" dirty="0">
                <a:solidFill>
                  <a:schemeClr val="bg2"/>
                </a:solidFill>
              </a:rPr>
              <a:t>Wide bench angle coverage</a:t>
            </a:r>
            <a:endParaRPr lang="en-US" sz="1300" dirty="0"/>
          </a:p>
          <a:p>
            <a:pPr indent="0" mar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50" dirty="0">
                <a:solidFill>
                  <a:schemeClr val="bg2"/>
                </a:solidFill>
              </a:rPr>
              <a:t>Rigid industrial mount arm</a:t>
            </a:r>
            <a:endParaRPr lang="en-US" sz="1300" dirty="0"/>
          </a:p>
        </p:txBody>
      </p:sp>
      <p:sp>
        <p:nvSpPr>
          <p:cNvPr id="17" name="Spec card 2"/>
          <p:cNvSpPr/>
          <p:nvPr/>
        </p:nvSpPr>
        <p:spPr>
          <a:xfrm>
            <a:off x="3383280" y="2514600"/>
            <a:ext cx="2633472" cy="3703320"/>
          </a:xfrm>
          <a:prstGeom prst="roundRect">
            <a:avLst>
              <a:gd name="adj" fmla="val 3472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11880" y="2743200"/>
            <a:ext cx="457200" cy="457200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19" name="Image 1" descr="scanner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180" y="2857500"/>
            <a:ext cx="228600" cy="2286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4206240" y="27432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• BARCODE SCANNER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3611880" y="3383280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chemeClr val="bg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IP65</a:t>
            </a:r>
            <a:endParaRPr lang="en-US" sz="5400" dirty="0"/>
          </a:p>
        </p:txBody>
      </p:sp>
      <p:sp>
        <p:nvSpPr>
          <p:cNvPr id="22" name="Text 18"/>
          <p:cNvSpPr txBox="1"/>
          <p:nvPr/>
        </p:nvSpPr>
        <p:spPr>
          <a:xfrm>
            <a:off x="3611880" y="4389120"/>
            <a:ext cx="226771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50" dirty="0">
                <a:solidFill>
                  <a:schemeClr val="bg2"/>
                </a:solidFill>
              </a:rPr>
              <a:t>IP65 industrial casing</a:t>
            </a:r>
            <a:endParaRPr lang="en-US" sz="1300" dirty="0"/>
          </a:p>
          <a:p>
            <a:pPr indent="0" mar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50" dirty="0">
                <a:solidFill>
                  <a:schemeClr val="bg2"/>
                </a:solidFill>
              </a:rPr>
              <a:t>USB and wireless support</a:t>
            </a:r>
            <a:endParaRPr lang="en-US" sz="1300" dirty="0"/>
          </a:p>
          <a:p>
            <a:pPr indent="0" mar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50" dirty="0">
                <a:solidFill>
                  <a:schemeClr val="bg2"/>
                </a:solidFill>
              </a:rPr>
              <a:t>1D and 2D barcode ready</a:t>
            </a:r>
            <a:endParaRPr lang="en-US" sz="1300" dirty="0"/>
          </a:p>
          <a:p>
            <a:pPr indent="0" mar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50" dirty="0">
                <a:solidFill>
                  <a:schemeClr val="bg2"/>
                </a:solidFill>
              </a:rPr>
              <a:t>Fast reads on torn labels</a:t>
            </a:r>
            <a:endParaRPr lang="en-US" sz="1300" dirty="0"/>
          </a:p>
          <a:p>
            <a:pPr indent="0" mar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50" dirty="0">
                <a:solidFill>
                  <a:schemeClr val="bg2"/>
                </a:solidFill>
              </a:rPr>
              <a:t>Zero keyboard typing</a:t>
            </a:r>
            <a:endParaRPr lang="en-US" sz="1300" dirty="0"/>
          </a:p>
        </p:txBody>
      </p:sp>
      <p:sp>
        <p:nvSpPr>
          <p:cNvPr id="23" name="Spec card 3"/>
          <p:cNvSpPr/>
          <p:nvPr/>
        </p:nvSpPr>
        <p:spPr>
          <a:xfrm>
            <a:off x="6172200" y="2514600"/>
            <a:ext cx="2633472" cy="3703320"/>
          </a:xfrm>
          <a:prstGeom prst="roundRect">
            <a:avLst>
              <a:gd name="adj" fmla="val 3472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400800" y="2743200"/>
            <a:ext cx="457200" cy="457200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25" name="Image 2" descr="cpu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2857500"/>
            <a:ext cx="228600" cy="22860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6995160" y="27432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• STATION PC</a:t>
            </a:r>
            <a:endParaRPr lang="en-US" sz="1050" dirty="0"/>
          </a:p>
        </p:txBody>
      </p:sp>
      <p:sp>
        <p:nvSpPr>
          <p:cNvPr id="27" name="Text 22"/>
          <p:cNvSpPr txBox="1"/>
          <p:nvPr/>
        </p:nvSpPr>
        <p:spPr>
          <a:xfrm>
            <a:off x="6400800" y="3383280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chemeClr val="bg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16GB</a:t>
            </a:r>
            <a:endParaRPr lang="en-US" sz="5400" dirty="0"/>
          </a:p>
        </p:txBody>
      </p:sp>
      <p:sp>
        <p:nvSpPr>
          <p:cNvPr id="28" name="Text 23"/>
          <p:cNvSpPr txBox="1"/>
          <p:nvPr/>
        </p:nvSpPr>
        <p:spPr>
          <a:xfrm>
            <a:off x="6400800" y="4389120"/>
            <a:ext cx="226771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50" dirty="0">
                <a:solidFill>
                  <a:schemeClr val="bg2"/>
                </a:solidFill>
              </a:rPr>
              <a:t>Dust-sealed fanless chassis</a:t>
            </a:r>
            <a:endParaRPr lang="en-US" sz="1300" dirty="0"/>
          </a:p>
          <a:p>
            <a:pPr indent="0" mar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50" dirty="0">
                <a:solidFill>
                  <a:schemeClr val="bg2"/>
                </a:solidFill>
              </a:rPr>
              <a:t>Quad-core edge processor</a:t>
            </a:r>
            <a:endParaRPr lang="en-US" sz="1300" dirty="0"/>
          </a:p>
          <a:p>
            <a:pPr indent="0" mar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50" dirty="0">
                <a:solidFill>
                  <a:schemeClr val="bg2"/>
                </a:solidFill>
              </a:rPr>
              <a:t>16GB RAM visual buffer</a:t>
            </a:r>
            <a:endParaRPr lang="en-US" sz="1300" dirty="0"/>
          </a:p>
          <a:p>
            <a:pPr indent="0" mar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50" dirty="0">
                <a:solidFill>
                  <a:schemeClr val="bg2"/>
                </a:solidFill>
              </a:rPr>
              <a:t>Fast local solid state drive</a:t>
            </a:r>
            <a:endParaRPr lang="en-US" sz="1300" dirty="0"/>
          </a:p>
          <a:p>
            <a:pPr indent="0" mar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50" dirty="0">
                <a:solidFill>
                  <a:schemeClr val="bg2"/>
                </a:solidFill>
              </a:rPr>
              <a:t>Auto 90-day clip storage</a:t>
            </a:r>
            <a:endParaRPr lang="en-US" sz="1300" dirty="0"/>
          </a:p>
        </p:txBody>
      </p:sp>
      <p:sp>
        <p:nvSpPr>
          <p:cNvPr id="29" name="Spec card 4"/>
          <p:cNvSpPr/>
          <p:nvPr/>
        </p:nvSpPr>
        <p:spPr>
          <a:xfrm>
            <a:off x="8961120" y="2514600"/>
            <a:ext cx="2633472" cy="3703320"/>
          </a:xfrm>
          <a:prstGeom prst="roundRect">
            <a:avLst>
              <a:gd name="adj" fmla="val 3472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9189720" y="2743200"/>
            <a:ext cx="457200" cy="457200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31" name="Image 3" descr="bell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4020" y="2857500"/>
            <a:ext cx="228600" cy="22860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9784080" y="27432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• BENCH FEEDBACK</a:t>
            </a:r>
            <a:endParaRPr lang="en-US" sz="1050" dirty="0"/>
          </a:p>
        </p:txBody>
      </p:sp>
      <p:sp>
        <p:nvSpPr>
          <p:cNvPr id="33" name="Text 27"/>
          <p:cNvSpPr txBox="1"/>
          <p:nvPr/>
        </p:nvSpPr>
        <p:spPr>
          <a:xfrm>
            <a:off x="9189720" y="3383280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chemeClr val="bg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85dB</a:t>
            </a:r>
            <a:endParaRPr lang="en-US" sz="5400" dirty="0"/>
          </a:p>
        </p:txBody>
      </p:sp>
      <p:sp>
        <p:nvSpPr>
          <p:cNvPr id="34" name="Text 28"/>
          <p:cNvSpPr txBox="1"/>
          <p:nvPr/>
        </p:nvSpPr>
        <p:spPr>
          <a:xfrm>
            <a:off x="9189720" y="4389120"/>
            <a:ext cx="226771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50" dirty="0">
                <a:solidFill>
                  <a:schemeClr val="bg2"/>
                </a:solidFill>
              </a:rPr>
              <a:t>Live on-screen indicator</a:t>
            </a:r>
            <a:endParaRPr lang="en-US" sz="1300" dirty="0"/>
          </a:p>
          <a:p>
            <a:pPr indent="0" mar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50" dirty="0">
                <a:solidFill>
                  <a:schemeClr val="bg2"/>
                </a:solidFill>
              </a:rPr>
              <a:t>Audible start/stop tones</a:t>
            </a:r>
            <a:endParaRPr lang="en-US" sz="1300" dirty="0"/>
          </a:p>
          <a:p>
            <a:pPr indent="0" mar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50" dirty="0">
                <a:solidFill>
                  <a:schemeClr val="bg2"/>
                </a:solidFill>
              </a:rPr>
              <a:t>Heard over warehouse noise</a:t>
            </a:r>
            <a:endParaRPr lang="en-US" sz="1300" dirty="0"/>
          </a:p>
          <a:p>
            <a:pPr indent="0" mar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50" dirty="0">
                <a:solidFill>
                  <a:schemeClr val="bg2"/>
                </a:solidFill>
              </a:rPr>
              <a:t>Desk-mounted finish card</a:t>
            </a:r>
            <a:endParaRPr lang="en-US" sz="1300" dirty="0"/>
          </a:p>
          <a:p>
            <a:pPr indent="0" mar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50" dirty="0">
                <a:solidFill>
                  <a:schemeClr val="bg2"/>
                </a:solidFill>
              </a:rPr>
              <a:t>Zero worker ambiguity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A1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pull dir="r"/>
      </p:transition>
    </mc:Choice>
    <mc:Fallback>
      <p:transition spd="med">
        <p:pull dir="r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 dot"/>
          <p:cNvSpPr/>
          <p:nvPr/>
        </p:nvSpPr>
        <p:spPr>
          <a:xfrm>
            <a:off x="594360" y="45720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384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PROVENANCE</a:t>
            </a:r>
            <a:endParaRPr lang="en-US" sz="1200" dirty="0"/>
          </a:p>
        </p:txBody>
      </p:sp>
      <p:sp>
        <p:nvSpPr>
          <p:cNvPr id="4" name="Phase 01 PROBLEM"/>
          <p:cNvSpPr txBox="1"/>
          <p:nvPr/>
        </p:nvSpPr>
        <p:spPr>
          <a:xfrm>
            <a:off x="5365699" y="384048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PROBLEM</a:t>
            </a:r>
            <a:endParaRPr lang="en-US" sz="1200" dirty="0"/>
          </a:p>
        </p:txBody>
      </p:sp>
      <p:sp>
        <p:nvSpPr>
          <p:cNvPr id="5" name="Phase 02 SOLUTION"/>
          <p:cNvSpPr txBox="1"/>
          <p:nvPr/>
        </p:nvSpPr>
        <p:spPr>
          <a:xfrm>
            <a:off x="6810451" y="384048"/>
            <a:ext cx="12582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SOLUTION</a:t>
            </a:r>
            <a:endParaRPr lang="en-US" sz="1200" dirty="0"/>
          </a:p>
        </p:txBody>
      </p:sp>
      <p:sp>
        <p:nvSpPr>
          <p:cNvPr id="6" name="Active phase dot"/>
          <p:cNvSpPr/>
          <p:nvPr/>
        </p:nvSpPr>
        <p:spPr>
          <a:xfrm>
            <a:off x="8178394" y="457200"/>
            <a:ext cx="91440" cy="91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hase 03 OPERATIONS"/>
          <p:cNvSpPr txBox="1"/>
          <p:nvPr/>
        </p:nvSpPr>
        <p:spPr>
          <a:xfrm>
            <a:off x="8361274" y="384048"/>
            <a:ext cx="1470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OPERATIONS</a:t>
            </a:r>
            <a:endParaRPr lang="en-US" sz="1200" dirty="0"/>
          </a:p>
        </p:txBody>
      </p:sp>
      <p:sp>
        <p:nvSpPr>
          <p:cNvPr id="8" name="Phase 04 DEPLOYMENT"/>
          <p:cNvSpPr txBox="1"/>
          <p:nvPr/>
        </p:nvSpPr>
        <p:spPr>
          <a:xfrm>
            <a:off x="10124237" y="384048"/>
            <a:ext cx="1470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DEPLOYMENT</a:t>
            </a:r>
            <a:endParaRPr lang="en-US" sz="1200" dirty="0"/>
          </a:p>
        </p:txBody>
      </p:sp>
      <p:sp>
        <p:nvSpPr>
          <p:cNvPr id="9" name="Text 0"/>
          <p:cNvSpPr/>
          <p:nvPr>
            <p:ph idx="100" type="title" hasCustomPrompt="1"/>
          </p:nvPr>
        </p:nvSpPr>
        <p:spPr>
          <a:xfrm>
            <a:off x="594360" y="777240"/>
            <a:ext cx="11000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dirty="0">
                <a:solidFill>
                  <a:schemeClr val="bg2"/>
                </a:solidFill>
              </a:rPr>
              <a:t>Business Case</a:t>
            </a:r>
            <a:endParaRPr lang="en-US" sz="34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3400" dirty="0">
                <a:solidFill>
                  <a:schemeClr val="bg1"/>
                </a:solidFill>
              </a:rPr>
              <a:t>Direct Bottom-Line Financial Impact</a:t>
            </a:r>
            <a:endParaRPr lang="en-US" sz="3400" dirty="0"/>
          </a:p>
        </p:txBody>
      </p:sp>
      <p:sp>
        <p:nvSpPr>
          <p:cNvPr id="10" name="Subtitle"/>
          <p:cNvSpPr txBox="1"/>
          <p:nvPr/>
        </p:nvSpPr>
        <p:spPr>
          <a:xfrm>
            <a:off x="594360" y="1810512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Proven payback metrics across distribution centers and high-volume packing benches.</a:t>
            </a:r>
            <a:endParaRPr lang="en-US" sz="1500" dirty="0"/>
          </a:p>
        </p:txBody>
      </p:sp>
      <p:sp>
        <p:nvSpPr>
          <p:cNvPr id="11" name="Savings hero card"/>
          <p:cNvSpPr/>
          <p:nvPr/>
        </p:nvSpPr>
        <p:spPr>
          <a:xfrm>
            <a:off x="594360" y="2514600"/>
            <a:ext cx="4480560" cy="3703320"/>
          </a:xfrm>
          <a:prstGeom prst="roundRect">
            <a:avLst>
              <a:gd name="adj" fmla="val 2469"/>
            </a:avLst>
          </a:prstGeom>
          <a:solidFill>
            <a:schemeClr val="bg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0120" y="28803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5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CAPITAL PAYBACK TIMELINE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361188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chemeClr val="tx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&lt; 90 Days</a:t>
            </a:r>
            <a:endParaRPr lang="en-US" sz="72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5257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Station investment typically recovered through reversed false claims within the first quarter of deployment.</a:t>
            </a:r>
            <a:endParaRPr lang="en-US" sz="1500" dirty="0"/>
          </a:p>
        </p:txBody>
      </p:sp>
      <p:sp>
        <p:nvSpPr>
          <p:cNvPr id="15" name="Stat card 1"/>
          <p:cNvSpPr/>
          <p:nvPr/>
        </p:nvSpPr>
        <p:spPr>
          <a:xfrm>
            <a:off x="5257800" y="2514600"/>
            <a:ext cx="3090672" cy="1554480"/>
          </a:xfrm>
          <a:prstGeom prst="roundRect">
            <a:avLst>
              <a:gd name="adj" fmla="val 5882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0" y="26517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chemeClr val="accent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82%</a:t>
            </a:r>
            <a:endParaRPr lang="en-US" sz="38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0" y="32918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DISPUTE WIN RATE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3538728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Recovers 82% of contested claims with indisputable video proof.</a:t>
            </a:r>
            <a:endParaRPr lang="en-US" sz="1200" dirty="0"/>
          </a:p>
        </p:txBody>
      </p:sp>
      <p:sp>
        <p:nvSpPr>
          <p:cNvPr id="19" name="Stat card 2"/>
          <p:cNvSpPr/>
          <p:nvPr/>
        </p:nvSpPr>
        <p:spPr>
          <a:xfrm>
            <a:off x="8503920" y="2514600"/>
            <a:ext cx="3090672" cy="1554480"/>
          </a:xfrm>
          <a:prstGeom prst="roundRect">
            <a:avLst>
              <a:gd name="adj" fmla="val 5882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732520" y="26517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chemeClr val="accent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15x</a:t>
            </a:r>
            <a:endParaRPr lang="en-US" sz="3800" dirty="0"/>
          </a:p>
        </p:txBody>
      </p:sp>
      <p:sp>
        <p:nvSpPr>
          <p:cNvPr id="21" name="Text 19"/>
          <p:cNvSpPr txBox="1"/>
          <p:nvPr/>
        </p:nvSpPr>
        <p:spPr>
          <a:xfrm>
            <a:off x="8732520" y="32918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FASTER RESOLUTION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732520" y="3538728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Resolves claims in seconds instead of 28 minutes of manual scrubbing.</a:t>
            </a:r>
            <a:endParaRPr lang="en-US" sz="1200" dirty="0"/>
          </a:p>
        </p:txBody>
      </p:sp>
      <p:graphicFrame>
        <p:nvGraphicFramePr>
          <p:cNvPr id="9" name="Payback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57800" y="4251960"/>
          <a:ext cx="633679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41071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00" kern="0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OPERATIONAL VALUE DRIVER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9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spc="100" kern="0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MEASURED IMPACT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9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bg1"/>
                          </a:solidFill>
                        </a:rPr>
                        <a:t>False Shortage Claims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9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chemeClr val="bg1"/>
                          </a:solidFill>
                        </a:rPr>
                        <a:t>80%+ contested value recovered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9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bg1"/>
                          </a:solidFill>
                        </a:rPr>
                        <a:t>CCTV Investigation Labor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9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chemeClr val="bg1"/>
                          </a:solidFill>
                        </a:rPr>
                        <a:t>90%+ footage hunting time saved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9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bg1"/>
                          </a:solidFill>
                        </a:rPr>
                        <a:t>Courier Dispute Liability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9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chemeClr val="bg1"/>
                          </a:solidFill>
                        </a:rPr>
                        <a:t>Immediate reversal with video proof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9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Net Operational Impact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9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1"/>
                          </a:solidFill>
                        </a:rPr>
                        <a:t>Positive cash-flow from Month 1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9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Capital Payback Horizon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9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1"/>
                          </a:solidFill>
                        </a:rPr>
                        <a:t>Full payback in 60 to 90 days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9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A1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50">
        <p:wipe dir="r"/>
      </p:transition>
    </mc:Choice>
    <mc:Fallback>
      <p:transition spd="med">
        <p:wipe dir="r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 dot"/>
          <p:cNvSpPr/>
          <p:nvPr/>
        </p:nvSpPr>
        <p:spPr>
          <a:xfrm>
            <a:off x="594360" y="45720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384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PROVENANCE</a:t>
            </a:r>
            <a:endParaRPr lang="en-US" sz="1200" dirty="0"/>
          </a:p>
        </p:txBody>
      </p:sp>
      <p:sp>
        <p:nvSpPr>
          <p:cNvPr id="4" name="Phase 01 PROBLEM"/>
          <p:cNvSpPr txBox="1"/>
          <p:nvPr/>
        </p:nvSpPr>
        <p:spPr>
          <a:xfrm>
            <a:off x="5365699" y="384048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PROBLEM</a:t>
            </a:r>
            <a:endParaRPr lang="en-US" sz="1200" dirty="0"/>
          </a:p>
        </p:txBody>
      </p:sp>
      <p:sp>
        <p:nvSpPr>
          <p:cNvPr id="5" name="Phase 02 SOLUTION"/>
          <p:cNvSpPr txBox="1"/>
          <p:nvPr/>
        </p:nvSpPr>
        <p:spPr>
          <a:xfrm>
            <a:off x="6810451" y="384048"/>
            <a:ext cx="12582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SOLUTION</a:t>
            </a:r>
            <a:endParaRPr lang="en-US" sz="1200" dirty="0"/>
          </a:p>
        </p:txBody>
      </p:sp>
      <p:sp>
        <p:nvSpPr>
          <p:cNvPr id="6" name="Phase 03 OPERATIONS"/>
          <p:cNvSpPr txBox="1"/>
          <p:nvPr/>
        </p:nvSpPr>
        <p:spPr>
          <a:xfrm>
            <a:off x="8361274" y="384048"/>
            <a:ext cx="1470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OPERATIONS</a:t>
            </a:r>
            <a:endParaRPr lang="en-US" sz="1200" dirty="0"/>
          </a:p>
        </p:txBody>
      </p:sp>
      <p:sp>
        <p:nvSpPr>
          <p:cNvPr id="7" name="Active phase dot"/>
          <p:cNvSpPr/>
          <p:nvPr/>
        </p:nvSpPr>
        <p:spPr>
          <a:xfrm>
            <a:off x="9941357" y="457200"/>
            <a:ext cx="91440" cy="91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hase 04 DEPLOYMENT"/>
          <p:cNvSpPr txBox="1"/>
          <p:nvPr/>
        </p:nvSpPr>
        <p:spPr>
          <a:xfrm>
            <a:off x="10124237" y="384048"/>
            <a:ext cx="1470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DEPLOYMENT</a:t>
            </a:r>
            <a:endParaRPr lang="en-US" sz="1200" dirty="0"/>
          </a:p>
        </p:txBody>
      </p:sp>
      <p:sp>
        <p:nvSpPr>
          <p:cNvPr id="9" name="Text 0"/>
          <p:cNvSpPr/>
          <p:nvPr>
            <p:ph idx="100" type="title" hasCustomPrompt="1"/>
          </p:nvPr>
        </p:nvSpPr>
        <p:spPr>
          <a:xfrm>
            <a:off x="594360" y="777240"/>
            <a:ext cx="11000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dirty="0">
                <a:solidFill>
                  <a:schemeClr val="bg2"/>
                </a:solidFill>
              </a:rPr>
              <a:t>4-Week Deployment Roadmap</a:t>
            </a:r>
            <a:endParaRPr lang="en-US" sz="34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3400" dirty="0">
                <a:solidFill>
                  <a:schemeClr val="bg1"/>
                </a:solidFill>
              </a:rPr>
              <a:t>Zero Downtime</a:t>
            </a:r>
            <a:endParaRPr lang="en-US" sz="3400" dirty="0"/>
          </a:p>
        </p:txBody>
      </p:sp>
      <p:sp>
        <p:nvSpPr>
          <p:cNvPr id="10" name="Subtitle"/>
          <p:cNvSpPr txBox="1"/>
          <p:nvPr/>
        </p:nvSpPr>
        <p:spPr>
          <a:xfrm>
            <a:off x="594360" y="1810512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Turnkey implementation designed to fit seamlessly into active packing bench operations.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965960" y="2697480"/>
            <a:ext cx="137160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12" name="Timeline node 1"/>
          <p:cNvSpPr/>
          <p:nvPr/>
        </p:nvSpPr>
        <p:spPr>
          <a:xfrm>
            <a:off x="594360" y="2606040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25877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01</a:t>
            </a:r>
            <a:endParaRPr lang="en-US" sz="1200" dirty="0"/>
          </a:p>
        </p:txBody>
      </p:sp>
      <p:sp>
        <p:nvSpPr>
          <p:cNvPr id="14" name="Week card 1"/>
          <p:cNvSpPr/>
          <p:nvPr/>
        </p:nvSpPr>
        <p:spPr>
          <a:xfrm>
            <a:off x="594360" y="3017520"/>
            <a:ext cx="2633472" cy="3154680"/>
          </a:xfrm>
          <a:prstGeom prst="roundRect">
            <a:avLst>
              <a:gd name="adj" fmla="val 3472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5349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chemeClr val="accent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01</a:t>
            </a:r>
            <a:endParaRPr lang="en-US" sz="54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320040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Bench Audit &amp; Setup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023360"/>
            <a:ext cx="22677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50" dirty="0">
                <a:solidFill>
                  <a:schemeClr val="bg2"/>
                </a:solidFill>
              </a:rPr>
              <a:t>Industrial camera bench mount</a:t>
            </a:r>
            <a:endParaRPr lang="en-US" sz="1400" dirty="0"/>
          </a:p>
          <a:p>
            <a:pPr indent="0" marL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50" dirty="0">
                <a:solidFill>
                  <a:schemeClr val="bg2"/>
                </a:solidFill>
              </a:rPr>
              <a:t>Handheld barcode integration</a:t>
            </a:r>
            <a:endParaRPr lang="en-US" sz="1400" dirty="0"/>
          </a:p>
          <a:p>
            <a:pPr indent="0" marL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50" dirty="0">
                <a:solidFill>
                  <a:schemeClr val="bg2"/>
                </a:solidFill>
              </a:rPr>
              <a:t>Field-of-view &amp; lighting tuning</a:t>
            </a:r>
            <a:endParaRPr lang="en-US" sz="1400" dirty="0"/>
          </a:p>
          <a:p>
            <a:pPr indent="0" marL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50" dirty="0">
                <a:solidFill>
                  <a:schemeClr val="bg2"/>
                </a:solidFill>
              </a:rPr>
              <a:t>Clean station power &amp; cabling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0" y="2697480"/>
            <a:ext cx="137160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19" name="Timeline node 2"/>
          <p:cNvSpPr/>
          <p:nvPr/>
        </p:nvSpPr>
        <p:spPr>
          <a:xfrm>
            <a:off x="3383280" y="2606040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703320" y="25877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02</a:t>
            </a:r>
            <a:endParaRPr lang="en-US" sz="1200" dirty="0"/>
          </a:p>
        </p:txBody>
      </p:sp>
      <p:sp>
        <p:nvSpPr>
          <p:cNvPr id="21" name="Week card 2"/>
          <p:cNvSpPr/>
          <p:nvPr/>
        </p:nvSpPr>
        <p:spPr>
          <a:xfrm>
            <a:off x="3383280" y="3017520"/>
            <a:ext cx="2633472" cy="3154680"/>
          </a:xfrm>
          <a:prstGeom prst="roundRect">
            <a:avLst>
              <a:gd name="adj" fmla="val 3472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11880" y="5349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chemeClr val="accent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02</a:t>
            </a:r>
            <a:endParaRPr lang="en-US" sz="5400" dirty="0"/>
          </a:p>
        </p:txBody>
      </p:sp>
      <p:sp>
        <p:nvSpPr>
          <p:cNvPr id="23" name="Text 21"/>
          <p:cNvSpPr txBox="1"/>
          <p:nvPr/>
        </p:nvSpPr>
        <p:spPr>
          <a:xfrm>
            <a:off x="3611880" y="320040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Station Pilot Launch</a:t>
            </a:r>
            <a:endParaRPr lang="en-US" sz="2100" dirty="0"/>
          </a:p>
        </p:txBody>
      </p:sp>
      <p:sp>
        <p:nvSpPr>
          <p:cNvPr id="24" name="Text 22"/>
          <p:cNvSpPr txBox="1"/>
          <p:nvPr/>
        </p:nvSpPr>
        <p:spPr>
          <a:xfrm>
            <a:off x="3611880" y="4023360"/>
            <a:ext cx="22677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50" dirty="0">
                <a:solidFill>
                  <a:schemeClr val="bg2"/>
                </a:solidFill>
              </a:rPr>
              <a:t>Single packing bench activation</a:t>
            </a:r>
            <a:endParaRPr lang="en-US" sz="1400" dirty="0"/>
          </a:p>
          <a:p>
            <a:pPr indent="0" marL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50" dirty="0">
                <a:solidFill>
                  <a:schemeClr val="bg2"/>
                </a:solidFill>
              </a:rPr>
              <a:t>5s visual buffer validation</a:t>
            </a:r>
            <a:endParaRPr lang="en-US" sz="1400" dirty="0"/>
          </a:p>
          <a:p>
            <a:pPr indent="0" marL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50" dirty="0">
                <a:solidFill>
                  <a:schemeClr val="bg2"/>
                </a:solidFill>
              </a:rPr>
              <a:t>Worker zero-friction observation</a:t>
            </a:r>
            <a:endParaRPr lang="en-US" sz="1400" dirty="0"/>
          </a:p>
          <a:p>
            <a:pPr indent="0" marL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50" dirty="0">
                <a:solidFill>
                  <a:schemeClr val="bg2"/>
                </a:solidFill>
              </a:rPr>
              <a:t>90-day local clip storage check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543800" y="2697480"/>
            <a:ext cx="137160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26" name="Timeline node 3"/>
          <p:cNvSpPr/>
          <p:nvPr/>
        </p:nvSpPr>
        <p:spPr>
          <a:xfrm>
            <a:off x="6172200" y="2606040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92240" y="25877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03</a:t>
            </a:r>
            <a:endParaRPr lang="en-US" sz="1200" dirty="0"/>
          </a:p>
        </p:txBody>
      </p:sp>
      <p:sp>
        <p:nvSpPr>
          <p:cNvPr id="28" name="Week card 3"/>
          <p:cNvSpPr/>
          <p:nvPr/>
        </p:nvSpPr>
        <p:spPr>
          <a:xfrm>
            <a:off x="6172200" y="3017520"/>
            <a:ext cx="2633472" cy="3154680"/>
          </a:xfrm>
          <a:prstGeom prst="roundRect">
            <a:avLst>
              <a:gd name="adj" fmla="val 3472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0" y="5349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chemeClr val="accent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03</a:t>
            </a:r>
            <a:endParaRPr lang="en-US" sz="54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0" y="320040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Full Facility Expansion</a:t>
            </a:r>
            <a:endParaRPr lang="en-US" sz="21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0" y="4023360"/>
            <a:ext cx="22677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50" dirty="0">
                <a:solidFill>
                  <a:schemeClr val="bg2"/>
                </a:solidFill>
              </a:rPr>
              <a:t>Multi-station facility rollout</a:t>
            </a:r>
            <a:endParaRPr lang="en-US" sz="1400" dirty="0"/>
          </a:p>
          <a:p>
            <a:pPr indent="0" marL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50" dirty="0">
                <a:solidFill>
                  <a:schemeClr val="bg2"/>
                </a:solidFill>
              </a:rPr>
              <a:t>Central network storage backup</a:t>
            </a:r>
            <a:endParaRPr lang="en-US" sz="1400" dirty="0"/>
          </a:p>
          <a:p>
            <a:pPr indent="0" marL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50" dirty="0">
                <a:solidFill>
                  <a:schemeClr val="bg2"/>
                </a:solidFill>
              </a:rPr>
              <a:t>Claims team portal onboarding</a:t>
            </a:r>
            <a:endParaRPr lang="en-US" sz="1400" dirty="0"/>
          </a:p>
          <a:p>
            <a:pPr indent="0" marL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50" dirty="0">
                <a:solidFill>
                  <a:schemeClr val="bg2"/>
                </a:solidFill>
              </a:rPr>
              <a:t>Dispute workflow dry-run</a:t>
            </a:r>
            <a:endParaRPr lang="en-US" sz="1400" dirty="0"/>
          </a:p>
        </p:txBody>
      </p:sp>
      <p:sp>
        <p:nvSpPr>
          <p:cNvPr id="32" name="Timeline node 4"/>
          <p:cNvSpPr/>
          <p:nvPr/>
        </p:nvSpPr>
        <p:spPr>
          <a:xfrm>
            <a:off x="8961120" y="2606040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281160" y="25877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04</a:t>
            </a:r>
            <a:endParaRPr lang="en-US" sz="1200" dirty="0"/>
          </a:p>
        </p:txBody>
      </p:sp>
      <p:sp>
        <p:nvSpPr>
          <p:cNvPr id="34" name="Week card 4"/>
          <p:cNvSpPr/>
          <p:nvPr/>
        </p:nvSpPr>
        <p:spPr>
          <a:xfrm>
            <a:off x="8961120" y="3017520"/>
            <a:ext cx="2633472" cy="3154680"/>
          </a:xfrm>
          <a:prstGeom prst="roundRect">
            <a:avLst>
              <a:gd name="adj" fmla="val 3472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189720" y="5349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chemeClr val="accent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04</a:t>
            </a:r>
            <a:endParaRPr lang="en-US" sz="5400" dirty="0"/>
          </a:p>
        </p:txBody>
      </p:sp>
      <p:sp>
        <p:nvSpPr>
          <p:cNvPr id="36" name="Text 34"/>
          <p:cNvSpPr txBox="1"/>
          <p:nvPr/>
        </p:nvSpPr>
        <p:spPr>
          <a:xfrm>
            <a:off x="9189720" y="320040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WMS &amp; Courier Integration</a:t>
            </a:r>
            <a:endParaRPr lang="en-US" sz="2100" dirty="0"/>
          </a:p>
        </p:txBody>
      </p:sp>
      <p:sp>
        <p:nvSpPr>
          <p:cNvPr id="37" name="Text 35"/>
          <p:cNvSpPr txBox="1"/>
          <p:nvPr/>
        </p:nvSpPr>
        <p:spPr>
          <a:xfrm>
            <a:off x="9189720" y="4023360"/>
            <a:ext cx="22677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50" dirty="0">
                <a:solidFill>
                  <a:schemeClr val="bg2"/>
                </a:solidFill>
              </a:rPr>
              <a:t>WMS barcode metadata linking</a:t>
            </a:r>
            <a:endParaRPr lang="en-US" sz="1400" dirty="0"/>
          </a:p>
          <a:p>
            <a:pPr indent="0" marL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50" dirty="0">
                <a:solidFill>
                  <a:schemeClr val="bg2"/>
                </a:solidFill>
              </a:rPr>
              <a:t>One-click courier video export</a:t>
            </a:r>
            <a:endParaRPr lang="en-US" sz="1400" dirty="0"/>
          </a:p>
          <a:p>
            <a:pPr indent="0" marL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50" dirty="0">
                <a:solidFill>
                  <a:schemeClr val="bg2"/>
                </a:solidFill>
              </a:rPr>
              <a:t>Executive ROI dashboard live</a:t>
            </a:r>
            <a:endParaRPr lang="en-US" sz="1400" dirty="0"/>
          </a:p>
          <a:p>
            <a:pPr indent="0" marL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50" dirty="0">
                <a:solidFill>
                  <a:schemeClr val="bg2"/>
                </a:solidFill>
              </a:rPr>
              <a:t>Full production sign-off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A1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an dir="r"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 dot"/>
          <p:cNvSpPr/>
          <p:nvPr/>
        </p:nvSpPr>
        <p:spPr>
          <a:xfrm>
            <a:off x="594360" y="45720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384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PROVENANCE</a:t>
            </a:r>
            <a:endParaRPr lang="en-US" sz="1200" dirty="0"/>
          </a:p>
        </p:txBody>
      </p:sp>
      <p:sp>
        <p:nvSpPr>
          <p:cNvPr id="4" name="Phase 01 PROBLEM"/>
          <p:cNvSpPr txBox="1"/>
          <p:nvPr/>
        </p:nvSpPr>
        <p:spPr>
          <a:xfrm>
            <a:off x="5365699" y="384048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PROBLEM</a:t>
            </a:r>
            <a:endParaRPr lang="en-US" sz="1200" dirty="0"/>
          </a:p>
        </p:txBody>
      </p:sp>
      <p:sp>
        <p:nvSpPr>
          <p:cNvPr id="5" name="Phase 02 SOLUTION"/>
          <p:cNvSpPr txBox="1"/>
          <p:nvPr/>
        </p:nvSpPr>
        <p:spPr>
          <a:xfrm>
            <a:off x="6810451" y="384048"/>
            <a:ext cx="12582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SOLUTION</a:t>
            </a:r>
            <a:endParaRPr lang="en-US" sz="1200" dirty="0"/>
          </a:p>
        </p:txBody>
      </p:sp>
      <p:sp>
        <p:nvSpPr>
          <p:cNvPr id="6" name="Phase 03 OPERATIONS"/>
          <p:cNvSpPr txBox="1"/>
          <p:nvPr/>
        </p:nvSpPr>
        <p:spPr>
          <a:xfrm>
            <a:off x="8361274" y="384048"/>
            <a:ext cx="1470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OPERATIONS</a:t>
            </a:r>
            <a:endParaRPr lang="en-US" sz="1200" dirty="0"/>
          </a:p>
        </p:txBody>
      </p:sp>
      <p:sp>
        <p:nvSpPr>
          <p:cNvPr id="7" name="Active phase dot"/>
          <p:cNvSpPr/>
          <p:nvPr/>
        </p:nvSpPr>
        <p:spPr>
          <a:xfrm>
            <a:off x="9941357" y="457200"/>
            <a:ext cx="91440" cy="91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hase 04 DEPLOYMENT"/>
          <p:cNvSpPr txBox="1"/>
          <p:nvPr/>
        </p:nvSpPr>
        <p:spPr>
          <a:xfrm>
            <a:off x="10124237" y="384048"/>
            <a:ext cx="1470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DEPLOYMENT</a:t>
            </a:r>
            <a:endParaRPr lang="en-US" sz="1200" dirty="0"/>
          </a:p>
        </p:txBody>
      </p:sp>
      <p:sp>
        <p:nvSpPr>
          <p:cNvPr id="9" name="Text 0"/>
          <p:cNvSpPr/>
          <p:nvPr>
            <p:ph idx="100" type="title" hasCustomPrompt="1"/>
          </p:nvPr>
        </p:nvSpPr>
        <p:spPr>
          <a:xfrm>
            <a:off x="594360" y="777240"/>
            <a:ext cx="110002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800" dirty="0">
                <a:solidFill>
                  <a:schemeClr val="bg2"/>
                </a:solidFill>
              </a:rPr>
              <a:t>Transform Packing Bench</a:t>
            </a:r>
            <a:endParaRPr lang="en-US" sz="38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3800" dirty="0">
                <a:solidFill>
                  <a:schemeClr val="bg1"/>
                </a:solidFill>
              </a:rPr>
              <a:t>Accountability</a:t>
            </a:r>
            <a:endParaRPr lang="en-US" sz="3800" dirty="0"/>
          </a:p>
        </p:txBody>
      </p:sp>
      <p:sp>
        <p:nvSpPr>
          <p:cNvPr id="10" name="Subtitle"/>
          <p:cNvSpPr txBox="1"/>
          <p:nvPr/>
        </p:nvSpPr>
        <p:spPr>
          <a:xfrm>
            <a:off x="594360" y="196596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Turn every dispatch into indisputable evidence with zero operator overhead.</a:t>
            </a:r>
            <a:endParaRPr lang="en-US" sz="1600" dirty="0"/>
          </a:p>
        </p:txBody>
      </p:sp>
      <p:sp>
        <p:nvSpPr>
          <p:cNvPr id="11" name="Action card 1"/>
          <p:cNvSpPr/>
          <p:nvPr/>
        </p:nvSpPr>
        <p:spPr>
          <a:xfrm>
            <a:off x="594360" y="2514600"/>
            <a:ext cx="3547872" cy="2331720"/>
          </a:xfrm>
          <a:prstGeom prst="roundRect">
            <a:avLst>
              <a:gd name="adj" fmla="val 3922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697480"/>
            <a:ext cx="457200" cy="457200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13" name="Image 0" descr="play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811780"/>
            <a:ext cx="228600" cy="2286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417320" y="2697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01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3246120"/>
            <a:ext cx="3090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15-Minute Bench Demo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3840480"/>
            <a:ext cx="3090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Inspect the live 1080p camera view, automated barcode trigger, and instant dispute search on a live packing bench.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4526280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Schedule: Virtual or on-site walkthrough</a:t>
            </a:r>
            <a:endParaRPr lang="en-US" sz="1100" dirty="0"/>
          </a:p>
        </p:txBody>
      </p:sp>
      <p:sp>
        <p:nvSpPr>
          <p:cNvPr id="18" name="Action card 2"/>
          <p:cNvSpPr/>
          <p:nvPr/>
        </p:nvSpPr>
        <p:spPr>
          <a:xfrm>
            <a:off x="4320540" y="2514600"/>
            <a:ext cx="3547872" cy="2331720"/>
          </a:xfrm>
          <a:prstGeom prst="roundRect">
            <a:avLst>
              <a:gd name="adj" fmla="val 3922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49140" y="2697480"/>
            <a:ext cx="457200" cy="457200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20" name="Image 1" descr="targe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811780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143500" y="2697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02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4549140" y="3246120"/>
            <a:ext cx="3090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30-Day Single-Station Pilot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4549140" y="3840480"/>
            <a:ext cx="3090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Deploy Provenance on your highest-volume packaging line with full hardware support and zero IT infrastructure overhaul.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4549140" y="4526280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Commitment: Zero-risk pilot evaluation</a:t>
            </a:r>
            <a:endParaRPr lang="en-US" sz="1100" dirty="0"/>
          </a:p>
        </p:txBody>
      </p:sp>
      <p:sp>
        <p:nvSpPr>
          <p:cNvPr id="25" name="Action card 3"/>
          <p:cNvSpPr/>
          <p:nvPr/>
        </p:nvSpPr>
        <p:spPr>
          <a:xfrm>
            <a:off x="8046720" y="2514600"/>
            <a:ext cx="3547872" cy="2331720"/>
          </a:xfrm>
          <a:prstGeom prst="roundRect">
            <a:avLst>
              <a:gd name="adj" fmla="val 3922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275320" y="2697480"/>
            <a:ext cx="457200" cy="457200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27" name="Image 2" descr="shield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9620" y="2811780"/>
            <a:ext cx="228600" cy="22860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8869680" y="2697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03</a:t>
            </a:r>
            <a:endParaRPr lang="en-US" sz="1100" dirty="0"/>
          </a:p>
        </p:txBody>
      </p:sp>
      <p:sp>
        <p:nvSpPr>
          <p:cNvPr id="29" name="Text 24"/>
          <p:cNvSpPr txBox="1"/>
          <p:nvPr/>
        </p:nvSpPr>
        <p:spPr>
          <a:xfrm>
            <a:off x="8275320" y="3246120"/>
            <a:ext cx="3090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Courier Evidence Review</a:t>
            </a:r>
            <a:endParaRPr lang="en-US" sz="1800" dirty="0"/>
          </a:p>
        </p:txBody>
      </p:sp>
      <p:sp>
        <p:nvSpPr>
          <p:cNvPr id="30" name="Text 25"/>
          <p:cNvSpPr txBox="1"/>
          <p:nvPr/>
        </p:nvSpPr>
        <p:spPr>
          <a:xfrm>
            <a:off x="8275320" y="3840480"/>
            <a:ext cx="3090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Inspect sample video exports and tamper-evident packaging clips ready for Delhivery, Bluedart, and marketplace portals.</a:t>
            </a:r>
            <a:endParaRPr lang="en-US" sz="1200" dirty="0"/>
          </a:p>
        </p:txBody>
      </p:sp>
      <p:sp>
        <p:nvSpPr>
          <p:cNvPr id="31" name="Text 26"/>
          <p:cNvSpPr txBox="1"/>
          <p:nvPr/>
        </p:nvSpPr>
        <p:spPr>
          <a:xfrm>
            <a:off x="8275320" y="4526280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Deliverable: Complete sample evidence clip</a:t>
            </a:r>
            <a:endParaRPr lang="en-US" sz="1100" dirty="0"/>
          </a:p>
        </p:txBody>
      </p:sp>
      <p:sp>
        <p:nvSpPr>
          <p:cNvPr id="32" name="Call to action card"/>
          <p:cNvSpPr/>
          <p:nvPr/>
        </p:nvSpPr>
        <p:spPr>
          <a:xfrm>
            <a:off x="594360" y="5010912"/>
            <a:ext cx="11000232" cy="1353312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914400" y="51389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READY TO ELIMINATE PACKING DISPUTE WRITE-OFFS?</a:t>
            </a:r>
            <a:endParaRPr lang="en-US" sz="1100" dirty="0"/>
          </a:p>
        </p:txBody>
      </p:sp>
      <p:sp>
        <p:nvSpPr>
          <p:cNvPr id="34" name="Text 29"/>
          <p:cNvSpPr txBox="1"/>
          <p:nvPr/>
        </p:nvSpPr>
        <p:spPr>
          <a:xfrm>
            <a:off x="914400" y="537667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Book a Live Packing Bench Walkthrough</a:t>
            </a:r>
            <a:endParaRPr lang="en-US" sz="2600" dirty="0"/>
          </a:p>
        </p:txBody>
      </p:sp>
      <p:sp>
        <p:nvSpPr>
          <p:cNvPr id="35" name="Text 30"/>
          <p:cNvSpPr txBox="1"/>
          <p:nvPr/>
        </p:nvSpPr>
        <p:spPr>
          <a:xfrm>
            <a:off x="914400" y="583387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 b="1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miltronics@rediffmail.com   •   +91 98209 32930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A1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  <p:pic>
        <p:nvPicPr>
          <p:cNvPr id="36" name="Miltronics Big Logo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0" y="5166360"/>
            <a:ext cx="1051560" cy="1051560"/>
          </a:xfrm>
          <a:prstGeom prst="rect">
            <a:avLst/>
          </a:prstGeom>
        </p:spPr>
      </p:pic>
      <p:sp>
        <p:nvSpPr>
          <p:cNvPr id="37" name="Miltronics Big Name"/>
          <p:cNvSpPr txBox="1"/>
          <p:nvPr/>
        </p:nvSpPr>
        <p:spPr>
          <a:xfrm>
            <a:off x="9189720" y="5193792"/>
            <a:ext cx="22402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MILTRONICS</a:t>
            </a:r>
          </a:p>
          <a:p>
            <a:pPr>
              <a:defRPr sz="1100" b="1">
                <a:solidFill>
                  <a:srgbClr val="059669"/>
                </a:solidFill>
              </a:defRPr>
            </a:pPr>
            <a:r>
              <a:t>PROVENANCE SUITE</a:t>
            </a:r>
          </a:p>
          <a:p>
            <a:pPr>
              <a:defRPr sz="950" b="0">
                <a:solidFill>
                  <a:srgbClr val="64748B"/>
                </a:solidFill>
              </a:defRPr>
            </a:pPr>
            <a:r>
              <a:t>Automated Bench Systems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Provenance Dark">
  <a:themeElements>
    <a:clrScheme name="Provenance Dark">
      <a:dk1>
        <a:srgbClr val="0A0D10"/>
      </a:dk1>
      <a:lt1>
        <a:srgbClr val="F2F4F6"/>
      </a:lt1>
      <a:dk2>
        <a:srgbClr val="141A20"/>
      </a:dk2>
      <a:lt2>
        <a:srgbClr val="AEB6C0"/>
      </a:lt2>
      <a:accent1>
        <a:srgbClr val="4ADE9C"/>
      </a:accent1>
      <a:accent2>
        <a:srgbClr val="FF5C4D"/>
      </a:accent2>
      <a:accent3>
        <a:srgbClr val="8B95A1"/>
      </a:accent3>
      <a:accent4>
        <a:srgbClr val="29313A"/>
      </a:accent4>
      <a:accent5>
        <a:srgbClr val="1C242C"/>
      </a:accent5>
      <a:accent6>
        <a:srgbClr val="0B7A55"/>
      </a:accent6>
      <a:hlink>
        <a:srgbClr val="4ADE9C"/>
      </a:hlink>
      <a:folHlink>
        <a:srgbClr val="8B95A1"/>
      </a:folHlink>
    </a:clrScheme>
    <a:fontScheme name="Provenance Dark">
      <a:majorFont>
        <a:latin typeface="Segoe U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Provenance: Industrial CCTV Proof &amp; Packing Station</dc:title>
  <dc:subject>PptxGenJS Presentation</dc:subject>
  <dc:creator>PptxGenJS</dc:creator>
  <cp:lastModifiedBy>PptxGenJS</cp:lastModifiedBy>
  <cp:revision>1</cp:revision>
  <dcterms:created xsi:type="dcterms:W3CDTF">2026-10-10T08:32:07Z</dcterms:created>
  <dcterms:modified xsi:type="dcterms:W3CDTF">2026-10-10T08:32:07Z</dcterms:modified>
</cp:coreProperties>
</file>